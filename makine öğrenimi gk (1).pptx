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73" r:id="rId3"/>
    <p:sldId id="278" r:id="rId4"/>
    <p:sldId id="279" r:id="rId5"/>
    <p:sldId id="270" r:id="rId6"/>
    <p:sldId id="256" r:id="rId7"/>
    <p:sldId id="257" r:id="rId8"/>
    <p:sldId id="260" r:id="rId9"/>
    <p:sldId id="274" r:id="rId10"/>
    <p:sldId id="258" r:id="rId11"/>
    <p:sldId id="259" r:id="rId12"/>
    <p:sldId id="261" r:id="rId13"/>
    <p:sldId id="275" r:id="rId14"/>
    <p:sldId id="271" r:id="rId15"/>
    <p:sldId id="262" r:id="rId16"/>
    <p:sldId id="263" r:id="rId17"/>
    <p:sldId id="264" r:id="rId18"/>
    <p:sldId id="276" r:id="rId19"/>
    <p:sldId id="265" r:id="rId20"/>
    <p:sldId id="267" r:id="rId21"/>
    <p:sldId id="266" r:id="rId22"/>
    <p:sldId id="277" r:id="rId23"/>
    <p:sldId id="272" r:id="rId2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2751F8-C9C8-6F66-F7E7-6AB97F86B3C2}" v="2" dt="2025-12-16T01:56:44.888"/>
    <p1510:client id="{5A3DB450-F78C-C8B7-E5BA-D8853682CDE4}" v="2" dt="2025-12-15T19:54:59.264"/>
    <p1510:client id="{6D6B7462-E480-1E14-4618-53E3FCD09CC7}" v="226" dt="2025-12-16T01:52:40.031"/>
    <p1510:client id="{702D27FE-7EAF-6E33-2A07-C8E5A3AE52FD}" v="329" dt="2025-12-15T17:33:12.559"/>
    <p1510:client id="{722B0D31-8DC1-A96E-52B3-ED9F4280663E}" v="225" dt="2025-12-16T00:44:34.586"/>
    <p1510:client id="{7D956A11-C78E-7845-0FB2-23FDDF0BCBBC}" v="42" dt="2025-12-16T10:19:35.716"/>
    <p1510:client id="{A2E4D408-5D14-235D-D958-862585325ECD}" v="6" dt="2025-12-16T01:07:21.116"/>
    <p1510:client id="{B7BA2F7F-217A-5CC8-3A3B-552B665A124A}" v="10" dt="2025-12-16T02:02:15.613"/>
    <p1510:client id="{EF7E770E-C1B6-1449-3647-97AD521EDD4B}" v="18" dt="2025-12-16T01:57:16.040"/>
    <p1510:client id="{F9DFD3F5-AD3E-08BC-C13E-210C63DD997D}" v="144" dt="2025-12-14T19:54:21.282"/>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Orta Stil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16.12.2025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16.12.2025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16.12.2025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16.12.2025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16.12.2025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16.12.2025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16.12.2025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16.12.2025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16.12.2025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16.12.2025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16.12.2025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16.12.2025</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26" descr="Endüstriyel bir fabrikanın boru ve tankları">
            <a:extLst>
              <a:ext uri="{FF2B5EF4-FFF2-40B4-BE49-F238E27FC236}">
                <a16:creationId xmlns:a16="http://schemas.microsoft.com/office/drawing/2014/main" id="{D8A63F64-8BA5-CF56-197D-27AA475CBB62}"/>
              </a:ext>
            </a:extLst>
          </p:cNvPr>
          <p:cNvPicPr>
            <a:picLocks noChangeAspect="1"/>
          </p:cNvPicPr>
          <p:nvPr/>
        </p:nvPicPr>
        <p:blipFill>
          <a:blip r:embed="rId2"/>
          <a:srcRect t="5436"/>
          <a:stretch>
            <a:fillRect/>
          </a:stretch>
        </p:blipFill>
        <p:spPr>
          <a:xfrm>
            <a:off x="2522356" y="10"/>
            <a:ext cx="9669642" cy="6857990"/>
          </a:xfrm>
          <a:prstGeom prst="rect">
            <a:avLst/>
          </a:prstGeom>
        </p:spPr>
      </p:pic>
      <p:sp>
        <p:nvSpPr>
          <p:cNvPr id="46" name="Rectangle 4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C159AA2-11AE-0E84-0787-DF2A744DF63A}"/>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a:t>MAKİNE ÖĞRENİMİ PROJESİ</a:t>
            </a:r>
          </a:p>
        </p:txBody>
      </p:sp>
      <p:sp>
        <p:nvSpPr>
          <p:cNvPr id="4" name="Metin kutusu 3">
            <a:extLst>
              <a:ext uri="{FF2B5EF4-FFF2-40B4-BE49-F238E27FC236}">
                <a16:creationId xmlns:a16="http://schemas.microsoft.com/office/drawing/2014/main" id="{E1AECD7B-5153-E4C3-2983-4E598F7E06B5}"/>
              </a:ext>
            </a:extLst>
          </p:cNvPr>
          <p:cNvSpPr txBox="1"/>
          <p:nvPr/>
        </p:nvSpPr>
        <p:spPr>
          <a:xfrm>
            <a:off x="838200" y="2480664"/>
            <a:ext cx="5383359" cy="3742762"/>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Bef>
                <a:spcPts val="1000"/>
              </a:spcBef>
            </a:pPr>
            <a:r>
              <a:rPr lang="en-US" sz="2800"/>
              <a:t>PETROL SIZINTISI TESPİTİ</a:t>
            </a:r>
            <a:endParaRPr lang="tr-TR"/>
          </a:p>
          <a:p>
            <a:pPr indent="-228600">
              <a:lnSpc>
                <a:spcPct val="90000"/>
              </a:lnSpc>
              <a:spcBef>
                <a:spcPts val="1000"/>
              </a:spcBef>
              <a:buFont typeface="Arial" panose="020B0604020202020204" pitchFamily="34" charset="0"/>
              <a:buChar char="•"/>
            </a:pPr>
            <a:endParaRPr lang="en-US" sz="2000"/>
          </a:p>
          <a:p>
            <a:pPr indent="-228600">
              <a:lnSpc>
                <a:spcPct val="90000"/>
              </a:lnSpc>
              <a:spcBef>
                <a:spcPts val="1000"/>
              </a:spcBef>
              <a:buFont typeface="Arial" panose="020B0604020202020204" pitchFamily="34" charset="0"/>
              <a:buChar char="•"/>
            </a:pPr>
            <a:endParaRPr lang="en-US" sz="2000"/>
          </a:p>
          <a:p>
            <a:pPr indent="-228600">
              <a:lnSpc>
                <a:spcPct val="90000"/>
              </a:lnSpc>
              <a:spcBef>
                <a:spcPts val="1000"/>
              </a:spcBef>
              <a:buFont typeface="Arial" panose="020B0604020202020204" pitchFamily="34" charset="0"/>
              <a:buChar char="•"/>
            </a:pPr>
            <a:endParaRPr lang="en-US" sz="2000"/>
          </a:p>
          <a:p>
            <a:pPr indent="-228600">
              <a:lnSpc>
                <a:spcPct val="90000"/>
              </a:lnSpc>
              <a:spcBef>
                <a:spcPts val="1000"/>
              </a:spcBef>
              <a:buFont typeface="Arial" panose="020B0604020202020204" pitchFamily="34" charset="0"/>
              <a:buChar char="•"/>
            </a:pPr>
            <a:r>
              <a:rPr lang="en-US" sz="2000"/>
              <a:t>GÖKTUĞ İSKENDER-202013172023</a:t>
            </a:r>
            <a:endParaRPr lang="en-US"/>
          </a:p>
          <a:p>
            <a:pPr indent="-228600">
              <a:lnSpc>
                <a:spcPct val="90000"/>
              </a:lnSpc>
              <a:spcBef>
                <a:spcPts val="1000"/>
              </a:spcBef>
              <a:buFont typeface="Arial" panose="020B0604020202020204" pitchFamily="34" charset="0"/>
              <a:buChar char="•"/>
            </a:pPr>
            <a:r>
              <a:rPr lang="en-US" sz="2000"/>
              <a:t>GÖKHAN ÖZBEK-202113172055</a:t>
            </a:r>
          </a:p>
        </p:txBody>
      </p:sp>
    </p:spTree>
    <p:extLst>
      <p:ext uri="{BB962C8B-B14F-4D97-AF65-F5344CB8AC3E}">
        <p14:creationId xmlns:p14="http://schemas.microsoft.com/office/powerpoint/2010/main" val="2350486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0F02D9E7-0511-87C5-4739-4FF9844AC932}"/>
              </a:ext>
            </a:extLst>
          </p:cNvPr>
          <p:cNvSpPr>
            <a:spLocks noGrp="1"/>
          </p:cNvSpPr>
          <p:nvPr>
            <p:ph type="title"/>
          </p:nvPr>
        </p:nvSpPr>
        <p:spPr>
          <a:xfrm>
            <a:off x="826396" y="586855"/>
            <a:ext cx="4230100" cy="3387497"/>
          </a:xfrm>
        </p:spPr>
        <p:txBody>
          <a:bodyPr anchor="b">
            <a:normAutofit/>
          </a:bodyPr>
          <a:lstStyle/>
          <a:p>
            <a:pPr algn="r"/>
            <a:r>
              <a:rPr lang="tr-TR" sz="4000">
                <a:solidFill>
                  <a:srgbClr val="FFFFFF"/>
                </a:solidFill>
              </a:rPr>
              <a:t>Proje bilgilendirmesi</a:t>
            </a:r>
          </a:p>
        </p:txBody>
      </p:sp>
      <p:sp>
        <p:nvSpPr>
          <p:cNvPr id="4" name="İçerik Yer Tutucusu 3">
            <a:extLst>
              <a:ext uri="{FF2B5EF4-FFF2-40B4-BE49-F238E27FC236}">
                <a16:creationId xmlns:a16="http://schemas.microsoft.com/office/drawing/2014/main" id="{B039FD33-6A91-5E2B-A645-85AD02DAB625}"/>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285750" indent="-285750">
              <a:spcBef>
                <a:spcPts val="0"/>
              </a:spcBef>
              <a:buChar char=""/>
            </a:pPr>
            <a:r>
              <a:rPr lang="tr-TR" sz="2000">
                <a:latin typeface="Calibri"/>
                <a:ea typeface="Calibri"/>
                <a:cs typeface="Calibri"/>
              </a:rPr>
              <a:t>Deniz yüzeyindeki petrol sızıntıları ciddi bir çevre sorunudur. Bu sızıntıları izlemek için SAR (Sentetik Açıklıklı Radar) uyduları kullanılır. Ancak SAR görüntülerinde rüzgar, dalga veya biyolojik filmler gibi meteorolojik olaylar da petrol gibi "koyu leke" oluşturabilir.</a:t>
            </a:r>
            <a:endParaRPr lang="en-US" sz="2000">
              <a:latin typeface="Calibri"/>
              <a:ea typeface="Calibri"/>
              <a:cs typeface="Calibri"/>
            </a:endParaRPr>
          </a:p>
          <a:p>
            <a:pPr marL="285750" indent="-285750">
              <a:spcBef>
                <a:spcPts val="0"/>
              </a:spcBef>
              <a:buChar char=""/>
            </a:pPr>
            <a:r>
              <a:rPr lang="tr-TR" sz="2000">
                <a:latin typeface="Calibri"/>
                <a:ea typeface="Calibri"/>
                <a:cs typeface="Calibri"/>
              </a:rPr>
              <a:t>Bu çalışma, denizlerdeki petrol sızıntılarını uydu görüntüleri üzerinden tespit etmek, ancak bunu yaparken benzer koyu lekeler ile gerçek petrolü ayırt etmek üzerine kurulu bir Makine Öğrenimi  projesidir.</a:t>
            </a:r>
            <a:endParaRPr lang="en-US" sz="2000">
              <a:latin typeface="Calibri"/>
              <a:ea typeface="Calibri"/>
              <a:cs typeface="Calibri"/>
            </a:endParaRPr>
          </a:p>
          <a:p>
            <a:endParaRPr lang="tr-TR" sz="2000"/>
          </a:p>
        </p:txBody>
      </p:sp>
    </p:spTree>
    <p:extLst>
      <p:ext uri="{BB962C8B-B14F-4D97-AF65-F5344CB8AC3E}">
        <p14:creationId xmlns:p14="http://schemas.microsoft.com/office/powerpoint/2010/main" val="3183152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2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4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Başlık 5">
            <a:extLst>
              <a:ext uri="{FF2B5EF4-FFF2-40B4-BE49-F238E27FC236}">
                <a16:creationId xmlns:a16="http://schemas.microsoft.com/office/drawing/2014/main" id="{C886CB87-BA18-5853-046B-D39FC54850BF}"/>
              </a:ext>
            </a:extLst>
          </p:cNvPr>
          <p:cNvSpPr>
            <a:spLocks noGrp="1"/>
          </p:cNvSpPr>
          <p:nvPr>
            <p:ph type="title"/>
          </p:nvPr>
        </p:nvSpPr>
        <p:spPr>
          <a:xfrm>
            <a:off x="1043631" y="1154954"/>
            <a:ext cx="9123207" cy="720594"/>
          </a:xfrm>
        </p:spPr>
        <p:txBody>
          <a:bodyPr vert="horz" lIns="91440" tIns="45720" rIns="91440" bIns="45720" rtlCol="0" anchor="ctr">
            <a:normAutofit fontScale="90000"/>
          </a:bodyPr>
          <a:lstStyle/>
          <a:p>
            <a:r>
              <a:rPr lang="en-US" sz="4800" dirty="0"/>
              <a:t>Veri </a:t>
            </a:r>
            <a:r>
              <a:rPr lang="en-US" sz="4800" dirty="0" err="1"/>
              <a:t>Yapısı</a:t>
            </a:r>
            <a:r>
              <a:rPr lang="en-US" sz="4800" dirty="0"/>
              <a:t> </a:t>
            </a:r>
            <a:r>
              <a:rPr lang="en-US" sz="4800" dirty="0" err="1"/>
              <a:t>ve</a:t>
            </a:r>
            <a:r>
              <a:rPr lang="en-US" sz="4800" dirty="0"/>
              <a:t> Problem </a:t>
            </a:r>
            <a:r>
              <a:rPr lang="en-US" sz="4800" dirty="0" err="1"/>
              <a:t>Tanımı</a:t>
            </a:r>
            <a:endParaRPr lang="en-US" sz="4800" kern="1200" dirty="0" err="1">
              <a:solidFill>
                <a:schemeClr val="tx1"/>
              </a:solidFill>
              <a:latin typeface="+mj-lt"/>
            </a:endParaRPr>
          </a:p>
        </p:txBody>
      </p:sp>
      <p:sp>
        <p:nvSpPr>
          <p:cNvPr id="7" name="Metin kutusu 6">
            <a:extLst>
              <a:ext uri="{FF2B5EF4-FFF2-40B4-BE49-F238E27FC236}">
                <a16:creationId xmlns:a16="http://schemas.microsoft.com/office/drawing/2014/main" id="{36F145E0-35D1-9ABD-1755-77A9C2F6CE09}"/>
              </a:ext>
            </a:extLst>
          </p:cNvPr>
          <p:cNvSpPr txBox="1"/>
          <p:nvPr/>
        </p:nvSpPr>
        <p:spPr>
          <a:xfrm>
            <a:off x="1045028" y="3017522"/>
            <a:ext cx="9941319" cy="3124658"/>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2000"/>
              <a:t>Bu </a:t>
            </a:r>
            <a:r>
              <a:rPr lang="en-US" sz="2000" err="1"/>
              <a:t>projede</a:t>
            </a:r>
            <a:r>
              <a:rPr lang="en-US" sz="2000"/>
              <a:t> kullandığımız </a:t>
            </a:r>
            <a:r>
              <a:rPr lang="en-US" sz="2000" err="1"/>
              <a:t>veri</a:t>
            </a:r>
            <a:r>
              <a:rPr lang="en-US" sz="2000"/>
              <a:t> </a:t>
            </a:r>
            <a:r>
              <a:rPr lang="en-US" sz="2000" err="1"/>
              <a:t>seti</a:t>
            </a:r>
            <a:r>
              <a:rPr lang="en-US" sz="2000"/>
              <a:t>, </a:t>
            </a:r>
            <a:r>
              <a:rPr lang="en-US" sz="2000" err="1"/>
              <a:t>rastgele</a:t>
            </a:r>
            <a:r>
              <a:rPr lang="en-US" sz="2000"/>
              <a:t> </a:t>
            </a:r>
            <a:r>
              <a:rPr lang="en-US" sz="2000" err="1"/>
              <a:t>sayılardan</a:t>
            </a:r>
            <a:r>
              <a:rPr lang="en-US" sz="2000"/>
              <a:t> </a:t>
            </a:r>
            <a:r>
              <a:rPr lang="en-US" sz="2000" err="1"/>
              <a:t>değil</a:t>
            </a:r>
            <a:r>
              <a:rPr lang="en-US" sz="2000"/>
              <a:t>, </a:t>
            </a:r>
            <a:r>
              <a:rPr lang="en-US" sz="2000" err="1"/>
              <a:t>gerçek</a:t>
            </a:r>
            <a:r>
              <a:rPr lang="en-US" sz="2000"/>
              <a:t> </a:t>
            </a:r>
            <a:r>
              <a:rPr lang="en-US" sz="2000" err="1"/>
              <a:t>dünyadan</a:t>
            </a:r>
            <a:r>
              <a:rPr lang="en-US" sz="2000"/>
              <a:t>; </a:t>
            </a:r>
            <a:r>
              <a:rPr lang="en-US" sz="2000" err="1"/>
              <a:t>okyanusların</a:t>
            </a:r>
            <a:r>
              <a:rPr lang="en-US" sz="2000"/>
              <a:t> </a:t>
            </a:r>
            <a:r>
              <a:rPr lang="en-US" sz="2000" err="1"/>
              <a:t>uzaydan</a:t>
            </a:r>
            <a:r>
              <a:rPr lang="en-US" sz="2000"/>
              <a:t> </a:t>
            </a:r>
            <a:r>
              <a:rPr lang="en-US" sz="2000" err="1"/>
              <a:t>çekilmiş</a:t>
            </a:r>
            <a:r>
              <a:rPr lang="en-US" sz="2000"/>
              <a:t> </a:t>
            </a:r>
            <a:r>
              <a:rPr lang="en-US" sz="2000" b="1" err="1"/>
              <a:t>uydu</a:t>
            </a:r>
            <a:r>
              <a:rPr lang="en-US" sz="2000" b="1"/>
              <a:t> </a:t>
            </a:r>
            <a:r>
              <a:rPr lang="en-US" sz="2000" b="1" err="1"/>
              <a:t>görüntüleri</a:t>
            </a:r>
            <a:r>
              <a:rPr lang="en-US" sz="2000"/>
              <a:t> </a:t>
            </a:r>
            <a:r>
              <a:rPr lang="en-US" sz="2000" err="1"/>
              <a:t>temel</a:t>
            </a:r>
            <a:r>
              <a:rPr lang="en-US" sz="2000"/>
              <a:t> </a:t>
            </a:r>
            <a:r>
              <a:rPr lang="en-US" sz="2000" err="1"/>
              <a:t>alınarak</a:t>
            </a:r>
            <a:r>
              <a:rPr lang="en-US" sz="2000"/>
              <a:t> </a:t>
            </a:r>
            <a:r>
              <a:rPr lang="en-US" sz="2000" err="1"/>
              <a:t>oluşturulmuştur.Ancak</a:t>
            </a:r>
            <a:r>
              <a:rPr lang="en-US" sz="2000"/>
              <a:t> biz </a:t>
            </a:r>
            <a:r>
              <a:rPr lang="en-US" sz="2000" err="1"/>
              <a:t>burada</a:t>
            </a:r>
            <a:r>
              <a:rPr lang="en-US" sz="2000"/>
              <a:t> </a:t>
            </a:r>
            <a:r>
              <a:rPr lang="en-US" sz="2000" err="1"/>
              <a:t>doğrudan</a:t>
            </a:r>
            <a:r>
              <a:rPr lang="en-US" sz="2000"/>
              <a:t> </a:t>
            </a:r>
            <a:r>
              <a:rPr lang="en-US" sz="2000" err="1"/>
              <a:t>fotoğraflara</a:t>
            </a:r>
            <a:r>
              <a:rPr lang="en-US" sz="2000"/>
              <a:t> </a:t>
            </a:r>
            <a:r>
              <a:rPr lang="en-US" sz="2000" err="1"/>
              <a:t>bakmıyoruz</a:t>
            </a:r>
            <a:r>
              <a:rPr lang="en-US" sz="2000"/>
              <a:t>. Bu </a:t>
            </a:r>
            <a:r>
              <a:rPr lang="en-US" sz="2000" err="1"/>
              <a:t>görüntüler</a:t>
            </a:r>
            <a:r>
              <a:rPr lang="en-US" sz="2000"/>
              <a:t>, </a:t>
            </a:r>
            <a:r>
              <a:rPr lang="en-US" sz="2000" err="1"/>
              <a:t>önceden</a:t>
            </a:r>
            <a:r>
              <a:rPr lang="en-US" sz="2000"/>
              <a:t> </a:t>
            </a:r>
            <a:r>
              <a:rPr lang="en-US" sz="2000" b="1" err="1"/>
              <a:t>bilgisayarlı</a:t>
            </a:r>
            <a:r>
              <a:rPr lang="en-US" sz="2000" b="1"/>
              <a:t> </a:t>
            </a:r>
            <a:r>
              <a:rPr lang="en-US" sz="2000" b="1" err="1"/>
              <a:t>görme</a:t>
            </a:r>
            <a:r>
              <a:rPr lang="en-US" sz="2000" b="1"/>
              <a:t> </a:t>
            </a:r>
            <a:r>
              <a:rPr lang="en-US" sz="2000" err="1"/>
              <a:t>algoritmalarıyla</a:t>
            </a:r>
            <a:r>
              <a:rPr lang="en-US" sz="2000"/>
              <a:t> </a:t>
            </a:r>
            <a:r>
              <a:rPr lang="en-US" sz="2000" err="1"/>
              <a:t>işlenmiş</a:t>
            </a:r>
            <a:r>
              <a:rPr lang="en-US" sz="2000"/>
              <a:t> </a:t>
            </a:r>
            <a:r>
              <a:rPr lang="en-US" sz="2000" err="1"/>
              <a:t>ve</a:t>
            </a:r>
            <a:r>
              <a:rPr lang="en-US" sz="2000"/>
              <a:t> her </a:t>
            </a:r>
            <a:r>
              <a:rPr lang="en-US" sz="2000" err="1"/>
              <a:t>bir</a:t>
            </a:r>
            <a:r>
              <a:rPr lang="en-US" sz="2000"/>
              <a:t> </a:t>
            </a:r>
            <a:r>
              <a:rPr lang="en-US" sz="2000" err="1"/>
              <a:t>görüntü</a:t>
            </a:r>
            <a:r>
              <a:rPr lang="en-US" sz="2000"/>
              <a:t> </a:t>
            </a:r>
            <a:r>
              <a:rPr lang="en-US" sz="2000" err="1"/>
              <a:t>parçası</a:t>
            </a:r>
            <a:r>
              <a:rPr lang="en-US" sz="2000"/>
              <a:t>, </a:t>
            </a:r>
            <a:r>
              <a:rPr lang="en-US" sz="2000" err="1"/>
              <a:t>matematiksel</a:t>
            </a:r>
            <a:r>
              <a:rPr lang="en-US" sz="2000"/>
              <a:t> </a:t>
            </a:r>
            <a:r>
              <a:rPr lang="en-US" sz="2000" err="1"/>
              <a:t>birer</a:t>
            </a:r>
            <a:r>
              <a:rPr lang="en-US" sz="2000"/>
              <a:t> </a:t>
            </a:r>
            <a:r>
              <a:rPr lang="en-US" sz="2000" b="1" err="1"/>
              <a:t>özellik</a:t>
            </a:r>
            <a:r>
              <a:rPr lang="en-US" sz="2000" b="1"/>
              <a:t> </a:t>
            </a:r>
            <a:r>
              <a:rPr lang="en-US" sz="2000" b="1" err="1"/>
              <a:t>vektörüne</a:t>
            </a:r>
            <a:r>
              <a:rPr lang="en-US" sz="2000"/>
              <a:t> </a:t>
            </a:r>
            <a:r>
              <a:rPr lang="en-US" sz="2000" err="1"/>
              <a:t>dönüştürülmüştür</a:t>
            </a:r>
            <a:r>
              <a:rPr lang="en-US" sz="2000"/>
              <a:t>. Yani </a:t>
            </a:r>
            <a:r>
              <a:rPr lang="en-US" sz="2000" err="1"/>
              <a:t>sunumun</a:t>
            </a:r>
            <a:r>
              <a:rPr lang="en-US" sz="2000"/>
              <a:t> </a:t>
            </a:r>
            <a:r>
              <a:rPr lang="en-US" sz="2000" err="1"/>
              <a:t>ilerleyen</a:t>
            </a:r>
            <a:r>
              <a:rPr lang="en-US" sz="2000"/>
              <a:t> </a:t>
            </a:r>
            <a:r>
              <a:rPr lang="en-US" sz="2000" err="1"/>
              <a:t>kısımlarında</a:t>
            </a:r>
            <a:r>
              <a:rPr lang="en-US" sz="2000"/>
              <a:t> </a:t>
            </a:r>
            <a:r>
              <a:rPr lang="en-US" sz="2000" err="1"/>
              <a:t>göreceğiniz</a:t>
            </a:r>
            <a:r>
              <a:rPr lang="en-US" sz="2000"/>
              <a:t> </a:t>
            </a:r>
            <a:r>
              <a:rPr lang="en-US" sz="2000" err="1"/>
              <a:t>veriler</a:t>
            </a:r>
            <a:r>
              <a:rPr lang="en-US" sz="2000"/>
              <a:t>, </a:t>
            </a:r>
            <a:r>
              <a:rPr lang="en-US" sz="2000" err="1"/>
              <a:t>aslında</a:t>
            </a:r>
            <a:r>
              <a:rPr lang="en-US" sz="2000"/>
              <a:t> </a:t>
            </a:r>
            <a:r>
              <a:rPr lang="en-US" sz="2000" err="1"/>
              <a:t>bu</a:t>
            </a:r>
            <a:r>
              <a:rPr lang="en-US" sz="2000"/>
              <a:t> </a:t>
            </a:r>
            <a:r>
              <a:rPr lang="en-US" sz="2000" err="1"/>
              <a:t>görüntülerin</a:t>
            </a:r>
            <a:r>
              <a:rPr lang="en-US" sz="2000"/>
              <a:t> </a:t>
            </a:r>
            <a:r>
              <a:rPr lang="en-US" sz="2000" err="1"/>
              <a:t>sayısal</a:t>
            </a:r>
            <a:r>
              <a:rPr lang="en-US" sz="2000"/>
              <a:t> </a:t>
            </a:r>
            <a:r>
              <a:rPr lang="en-US" sz="2000" err="1"/>
              <a:t>karşılıklarıdır.</a:t>
            </a:r>
            <a:r>
              <a:rPr lang="en-US" sz="2000" b="1" err="1"/>
              <a:t>Temel</a:t>
            </a:r>
            <a:r>
              <a:rPr lang="en-US" sz="2000" b="1"/>
              <a:t> </a:t>
            </a:r>
            <a:r>
              <a:rPr lang="en-US" sz="2000" b="1" err="1"/>
              <a:t>Görevimiz</a:t>
            </a:r>
            <a:r>
              <a:rPr lang="en-US" sz="2000" b="1"/>
              <a:t> </a:t>
            </a:r>
            <a:r>
              <a:rPr lang="en-US" sz="2000" b="1" err="1"/>
              <a:t>Şudur</a:t>
            </a:r>
            <a:r>
              <a:rPr lang="en-US" sz="2000" b="1"/>
              <a:t>:</a:t>
            </a:r>
            <a:r>
              <a:rPr lang="en-US" sz="2000"/>
              <a:t> </a:t>
            </a:r>
            <a:r>
              <a:rPr lang="en-US" sz="2000" err="1"/>
              <a:t>Elimizdeki</a:t>
            </a:r>
            <a:r>
              <a:rPr lang="en-US" sz="2000"/>
              <a:t> </a:t>
            </a:r>
            <a:r>
              <a:rPr lang="en-US" sz="2000" err="1"/>
              <a:t>bu</a:t>
            </a:r>
            <a:r>
              <a:rPr lang="en-US" sz="2000"/>
              <a:t> </a:t>
            </a:r>
            <a:r>
              <a:rPr lang="en-US" sz="2000" err="1"/>
              <a:t>sayısal</a:t>
            </a:r>
            <a:r>
              <a:rPr lang="en-US" sz="2000"/>
              <a:t> </a:t>
            </a:r>
            <a:r>
              <a:rPr lang="en-US" sz="2000" err="1"/>
              <a:t>verileri</a:t>
            </a:r>
            <a:r>
              <a:rPr lang="en-US" sz="2000"/>
              <a:t> </a:t>
            </a:r>
            <a:r>
              <a:rPr lang="en-US" sz="2000" err="1"/>
              <a:t>kullanarak</a:t>
            </a:r>
            <a:r>
              <a:rPr lang="en-US" sz="2000"/>
              <a:t>, </a:t>
            </a:r>
            <a:r>
              <a:rPr lang="en-US" sz="2000" err="1"/>
              <a:t>okyanusun</a:t>
            </a:r>
            <a:r>
              <a:rPr lang="en-US" sz="2000"/>
              <a:t> o </a:t>
            </a:r>
            <a:r>
              <a:rPr lang="en-US" sz="2000" err="1"/>
              <a:t>bölgesinde</a:t>
            </a:r>
            <a:r>
              <a:rPr lang="en-US" sz="2000"/>
              <a:t> </a:t>
            </a:r>
            <a:r>
              <a:rPr lang="en-US" sz="2000" err="1"/>
              <a:t>yasadışı</a:t>
            </a:r>
            <a:r>
              <a:rPr lang="en-US" sz="2000"/>
              <a:t> </a:t>
            </a:r>
            <a:r>
              <a:rPr lang="en-US" sz="2000" err="1"/>
              <a:t>veya</a:t>
            </a:r>
            <a:r>
              <a:rPr lang="en-US" sz="2000"/>
              <a:t> </a:t>
            </a:r>
            <a:r>
              <a:rPr lang="en-US" sz="2000" err="1"/>
              <a:t>kazara</a:t>
            </a:r>
            <a:r>
              <a:rPr lang="en-US" sz="2000"/>
              <a:t> </a:t>
            </a:r>
            <a:r>
              <a:rPr lang="en-US" sz="2000" err="1"/>
              <a:t>oluşmuş</a:t>
            </a:r>
            <a:r>
              <a:rPr lang="en-US" sz="2000"/>
              <a:t> </a:t>
            </a:r>
            <a:r>
              <a:rPr lang="en-US" sz="2000" err="1"/>
              <a:t>bir</a:t>
            </a:r>
            <a:r>
              <a:rPr lang="en-US" sz="2000"/>
              <a:t> </a:t>
            </a:r>
            <a:r>
              <a:rPr lang="en-US" sz="2000" b="1"/>
              <a:t>'Petrol </a:t>
            </a:r>
            <a:r>
              <a:rPr lang="en-US" sz="2000" b="1" err="1"/>
              <a:t>Sızıntısı</a:t>
            </a:r>
            <a:r>
              <a:rPr lang="en-US" sz="2000" b="1"/>
              <a:t>'</a:t>
            </a:r>
            <a:r>
              <a:rPr lang="en-US" sz="2000"/>
              <a:t> </a:t>
            </a:r>
            <a:r>
              <a:rPr lang="en-US" sz="2000" err="1"/>
              <a:t>olup</a:t>
            </a:r>
            <a:r>
              <a:rPr lang="en-US" sz="2000"/>
              <a:t> </a:t>
            </a:r>
            <a:r>
              <a:rPr lang="en-US" sz="2000" err="1"/>
              <a:t>olmadığını</a:t>
            </a:r>
            <a:r>
              <a:rPr lang="en-US" sz="2000"/>
              <a:t> </a:t>
            </a:r>
            <a:r>
              <a:rPr lang="en-US" sz="2000" err="1"/>
              <a:t>tahmin</a:t>
            </a:r>
            <a:r>
              <a:rPr lang="en-US" sz="2000"/>
              <a:t> </a:t>
            </a:r>
            <a:r>
              <a:rPr lang="en-US" sz="2000" err="1"/>
              <a:t>etmektir</a:t>
            </a:r>
            <a:r>
              <a:rPr lang="en-US" sz="2000"/>
              <a:t>.</a:t>
            </a:r>
            <a:endParaRPr lang="tr-TR" sz="2000"/>
          </a:p>
          <a:p>
            <a:pPr indent="-228600">
              <a:lnSpc>
                <a:spcPct val="90000"/>
              </a:lnSpc>
              <a:spcAft>
                <a:spcPts val="600"/>
              </a:spcAft>
              <a:buFont typeface="Arial" panose="020B0604020202020204" pitchFamily="34" charset="0"/>
              <a:buChar char="•"/>
            </a:pPr>
            <a:r>
              <a:rPr lang="en-US" sz="2000" err="1"/>
              <a:t>Burada</a:t>
            </a:r>
            <a:r>
              <a:rPr lang="en-US" sz="2000"/>
              <a:t> </a:t>
            </a:r>
            <a:r>
              <a:rPr lang="en-US" sz="2000" err="1"/>
              <a:t>bizi</a:t>
            </a:r>
            <a:r>
              <a:rPr lang="en-US" sz="2000"/>
              <a:t> </a:t>
            </a:r>
            <a:r>
              <a:rPr lang="en-US" sz="2000" err="1"/>
              <a:t>zorlayan</a:t>
            </a:r>
            <a:r>
              <a:rPr lang="en-US" sz="2000"/>
              <a:t> </a:t>
            </a:r>
            <a:r>
              <a:rPr lang="en-US" sz="2000" err="1"/>
              <a:t>en</a:t>
            </a:r>
            <a:r>
              <a:rPr lang="en-US" sz="2000"/>
              <a:t> </a:t>
            </a:r>
            <a:r>
              <a:rPr lang="en-US" sz="2000" err="1"/>
              <a:t>kritik</a:t>
            </a:r>
            <a:r>
              <a:rPr lang="en-US" sz="2000"/>
              <a:t> </a:t>
            </a:r>
            <a:r>
              <a:rPr lang="en-US" sz="2000" err="1"/>
              <a:t>nokta</a:t>
            </a:r>
            <a:r>
              <a:rPr lang="en-US" sz="2000"/>
              <a:t> </a:t>
            </a:r>
            <a:r>
              <a:rPr lang="en-US" sz="2000" err="1"/>
              <a:t>ise</a:t>
            </a:r>
            <a:r>
              <a:rPr lang="en-US" sz="2000"/>
              <a:t> </a:t>
            </a:r>
            <a:r>
              <a:rPr lang="en-US" sz="2000" err="1"/>
              <a:t>şudur</a:t>
            </a:r>
            <a:r>
              <a:rPr lang="en-US" sz="2000"/>
              <a:t>: Veri </a:t>
            </a:r>
            <a:r>
              <a:rPr lang="en-US" sz="2000" err="1"/>
              <a:t>setimizde</a:t>
            </a:r>
            <a:r>
              <a:rPr lang="en-US" sz="2000"/>
              <a:t> </a:t>
            </a:r>
            <a:r>
              <a:rPr lang="en-US" sz="2000" err="1"/>
              <a:t>iki</a:t>
            </a:r>
            <a:r>
              <a:rPr lang="en-US" sz="2000"/>
              <a:t> </a:t>
            </a:r>
            <a:r>
              <a:rPr lang="en-US" sz="2000" err="1"/>
              <a:t>sınıf</a:t>
            </a:r>
            <a:r>
              <a:rPr lang="en-US" sz="2000"/>
              <a:t> var:</a:t>
            </a:r>
          </a:p>
          <a:p>
            <a:pPr marL="285750" indent="-228600">
              <a:lnSpc>
                <a:spcPct val="90000"/>
              </a:lnSpc>
              <a:spcAft>
                <a:spcPts val="600"/>
              </a:spcAft>
              <a:buFont typeface="Arial" panose="020B0604020202020204" pitchFamily="34" charset="0"/>
              <a:buChar char="•"/>
            </a:pPr>
            <a:r>
              <a:rPr lang="en-US" sz="2000" b="1" err="1"/>
              <a:t>Dökülmeyen</a:t>
            </a:r>
            <a:r>
              <a:rPr lang="en-US" sz="2000" b="1"/>
              <a:t> (</a:t>
            </a:r>
            <a:r>
              <a:rPr lang="en-US" sz="2000" b="1" err="1"/>
              <a:t>Negatif</a:t>
            </a:r>
            <a:r>
              <a:rPr lang="en-US" sz="2000" b="1"/>
              <a:t> Durum):</a:t>
            </a:r>
            <a:r>
              <a:rPr lang="en-US" sz="2000"/>
              <a:t> Yani </a:t>
            </a:r>
            <a:r>
              <a:rPr lang="en-US" sz="2000" err="1"/>
              <a:t>temiz</a:t>
            </a:r>
            <a:r>
              <a:rPr lang="en-US" sz="2000"/>
              <a:t> </a:t>
            </a:r>
            <a:r>
              <a:rPr lang="en-US" sz="2000" err="1"/>
              <a:t>okyanus</a:t>
            </a:r>
            <a:r>
              <a:rPr lang="en-US" sz="2000"/>
              <a:t> </a:t>
            </a:r>
            <a:r>
              <a:rPr lang="en-US" sz="2000" err="1"/>
              <a:t>suyu</a:t>
            </a:r>
            <a:r>
              <a:rPr lang="en-US" sz="2000"/>
              <a:t>. Bu </a:t>
            </a:r>
            <a:r>
              <a:rPr lang="en-US" sz="2000" err="1"/>
              <a:t>bizim</a:t>
            </a:r>
            <a:r>
              <a:rPr lang="en-US" sz="2000"/>
              <a:t> </a:t>
            </a:r>
            <a:r>
              <a:rPr lang="en-US" sz="2000" b="1" err="1"/>
              <a:t>Çoğunluk</a:t>
            </a:r>
            <a:r>
              <a:rPr lang="en-US" sz="2000"/>
              <a:t> </a:t>
            </a:r>
            <a:r>
              <a:rPr lang="en-US" sz="2000" err="1"/>
              <a:t>sınıfımız</a:t>
            </a:r>
            <a:r>
              <a:rPr lang="en-US" sz="2000"/>
              <a:t>.</a:t>
            </a:r>
          </a:p>
          <a:p>
            <a:pPr marL="285750" indent="-228600">
              <a:lnSpc>
                <a:spcPct val="90000"/>
              </a:lnSpc>
              <a:spcAft>
                <a:spcPts val="600"/>
              </a:spcAft>
              <a:buFont typeface="Arial" panose="020B0604020202020204" pitchFamily="34" charset="0"/>
              <a:buChar char="•"/>
            </a:pPr>
            <a:r>
              <a:rPr lang="en-US" sz="2000" b="1"/>
              <a:t>Petrol </a:t>
            </a:r>
            <a:r>
              <a:rPr lang="en-US" sz="2000" b="1" err="1"/>
              <a:t>Dökülmesi</a:t>
            </a:r>
            <a:r>
              <a:rPr lang="en-US" sz="2000" b="1"/>
              <a:t> (</a:t>
            </a:r>
            <a:r>
              <a:rPr lang="en-US" sz="2000" b="1" err="1"/>
              <a:t>Pozitif</a:t>
            </a:r>
            <a:r>
              <a:rPr lang="en-US" sz="2000" b="1"/>
              <a:t> Durum):</a:t>
            </a:r>
            <a:r>
              <a:rPr lang="en-US" sz="2000"/>
              <a:t> Yani </a:t>
            </a:r>
            <a:r>
              <a:rPr lang="en-US" sz="2000" err="1"/>
              <a:t>aradığımız</a:t>
            </a:r>
            <a:r>
              <a:rPr lang="en-US" sz="2000"/>
              <a:t> </a:t>
            </a:r>
            <a:r>
              <a:rPr lang="en-US" sz="2000" err="1"/>
              <a:t>sızıntı</a:t>
            </a:r>
            <a:r>
              <a:rPr lang="en-US" sz="2000"/>
              <a:t>. Bu </a:t>
            </a:r>
            <a:r>
              <a:rPr lang="en-US" sz="2000" err="1"/>
              <a:t>ise</a:t>
            </a:r>
            <a:r>
              <a:rPr lang="en-US" sz="2000"/>
              <a:t> </a:t>
            </a:r>
            <a:r>
              <a:rPr lang="en-US" sz="2000" err="1"/>
              <a:t>çok</a:t>
            </a:r>
            <a:r>
              <a:rPr lang="en-US" sz="2000"/>
              <a:t> nadir </a:t>
            </a:r>
            <a:r>
              <a:rPr lang="en-US" sz="2000" err="1"/>
              <a:t>görülen</a:t>
            </a:r>
            <a:r>
              <a:rPr lang="en-US" sz="2000"/>
              <a:t> </a:t>
            </a:r>
            <a:r>
              <a:rPr lang="en-US" sz="2000" b="1" err="1"/>
              <a:t>Azınlık</a:t>
            </a:r>
            <a:r>
              <a:rPr lang="en-US" sz="2000"/>
              <a:t> </a:t>
            </a:r>
            <a:r>
              <a:rPr lang="en-US" sz="2000" err="1"/>
              <a:t>sınıfımız</a:t>
            </a:r>
            <a:r>
              <a:rPr lang="en-US" sz="2000"/>
              <a:t>.</a:t>
            </a:r>
          </a:p>
          <a:p>
            <a:pPr indent="-228600">
              <a:lnSpc>
                <a:spcPct val="90000"/>
              </a:lnSpc>
              <a:spcAft>
                <a:spcPts val="600"/>
              </a:spcAft>
              <a:buFont typeface="Arial" panose="020B0604020202020204" pitchFamily="34" charset="0"/>
              <a:buChar char="•"/>
            </a:pPr>
            <a:r>
              <a:rPr lang="en-US" sz="2000"/>
              <a:t>Bizim amacımız, bu azınlık sınıfını en yüksek başarıyla tespit edebilen modeli geliştirmektir.</a:t>
            </a:r>
          </a:p>
          <a:p>
            <a:pPr indent="-228600">
              <a:lnSpc>
                <a:spcPct val="90000"/>
              </a:lnSpc>
              <a:spcAft>
                <a:spcPts val="600"/>
              </a:spcAft>
              <a:buFont typeface="Arial" panose="020B0604020202020204" pitchFamily="34" charset="0"/>
              <a:buChar char="•"/>
            </a:pPr>
            <a:endParaRPr lang="en-US" sz="2000"/>
          </a:p>
        </p:txBody>
      </p:sp>
      <p:cxnSp>
        <p:nvCxnSpPr>
          <p:cNvPr id="53" name="Straight Connector 3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7209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988F258-3589-16F5-36AC-424EB9A4AA8A}"/>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Verilerimiz</a:t>
            </a:r>
          </a:p>
        </p:txBody>
      </p:sp>
      <p:sp>
        <p:nvSpPr>
          <p:cNvPr id="28" name="Rectangle 3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etin kutusu 7">
            <a:extLst>
              <a:ext uri="{FF2B5EF4-FFF2-40B4-BE49-F238E27FC236}">
                <a16:creationId xmlns:a16="http://schemas.microsoft.com/office/drawing/2014/main" id="{31A049E0-4504-409F-A5FE-9E8F53FFFBF4}"/>
              </a:ext>
            </a:extLst>
          </p:cNvPr>
          <p:cNvSpPr txBox="1"/>
          <p:nvPr/>
        </p:nvSpPr>
        <p:spPr>
          <a:xfrm>
            <a:off x="793661" y="2599509"/>
            <a:ext cx="4530898" cy="363945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700"/>
              <a:t>Ekranda gördüğünüz fotoğraf veri setimizin teknik yapısını gösteriyor. Dikkat ederseniz burada 'Leke Boyutu' veya 'Renk Yoğunluğu' gibi kelimeler yerine, f_1, f_2 gibi kodlar görüyoruz.</a:t>
            </a:r>
          </a:p>
          <a:p>
            <a:pPr indent="-228600">
              <a:lnSpc>
                <a:spcPct val="90000"/>
              </a:lnSpc>
              <a:spcAft>
                <a:spcPts val="600"/>
              </a:spcAft>
              <a:buFont typeface="Arial" panose="020B0604020202020204" pitchFamily="34" charset="0"/>
              <a:buChar char="•"/>
            </a:pPr>
            <a:r>
              <a:rPr lang="en-US" sz="1700"/>
              <a:t>Bunun sebebi, kullandığımız veri setinin </a:t>
            </a:r>
            <a:r>
              <a:rPr lang="en-US" sz="1700" b="1"/>
              <a:t>anonimleştirilmiş</a:t>
            </a:r>
            <a:r>
              <a:rPr lang="en-US" sz="1700"/>
              <a:t> olmasıdır. Veri biliminde sıkça karşılaştığımız bu durum, genellikle görüntü işleme algoritmalarının telif haklarını korumak için yapılır.Burada etiketlerin ismine takılmıyoruz. Amacımız, bu anonim sayıların dilini çözmek ve </a:t>
            </a:r>
            <a:r>
              <a:rPr lang="en-US" sz="1700" b="1"/>
              <a:t>hangi sayısal değişimin petrol sızıntısına işaret ettiğini</a:t>
            </a:r>
            <a:r>
              <a:rPr lang="en-US" sz="1700"/>
              <a:t> modelimize öğretmektir."</a:t>
            </a:r>
          </a:p>
        </p:txBody>
      </p:sp>
      <p:pic>
        <p:nvPicPr>
          <p:cNvPr id="25" name="İçerik Yer Tutucusu 24" descr="metin, ekran görüntüsü, yazı tipi, sayı, numara içeren bir resim&#10;&#10;Yapay zeka tarafından oluşturulmuş içerik yanlış olabilir.">
            <a:extLst>
              <a:ext uri="{FF2B5EF4-FFF2-40B4-BE49-F238E27FC236}">
                <a16:creationId xmlns:a16="http://schemas.microsoft.com/office/drawing/2014/main" id="{0CE6C693-B63C-CE4E-3026-E3125F1090CA}"/>
              </a:ext>
            </a:extLst>
          </p:cNvPr>
          <p:cNvPicPr>
            <a:picLocks noGrp="1" noChangeAspect="1"/>
          </p:cNvPicPr>
          <p:nvPr>
            <p:ph idx="1"/>
          </p:nvPr>
        </p:nvPicPr>
        <p:blipFill>
          <a:blip r:embed="rId2"/>
          <a:stretch>
            <a:fillRect/>
          </a:stretch>
        </p:blipFill>
        <p:spPr>
          <a:xfrm>
            <a:off x="5911532" y="2592679"/>
            <a:ext cx="5150277" cy="3497396"/>
          </a:xfrm>
          <a:prstGeom prst="rect">
            <a:avLst/>
          </a:prstGeom>
        </p:spPr>
      </p:pic>
      <p:sp>
        <p:nvSpPr>
          <p:cNvPr id="36" name="Rectangle 3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9415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58783D3-C58B-4329-7F22-7638F3CF508F}"/>
              </a:ext>
            </a:extLst>
          </p:cNvPr>
          <p:cNvSpPr>
            <a:spLocks noGrp="1"/>
          </p:cNvSpPr>
          <p:nvPr>
            <p:ph type="title"/>
          </p:nvPr>
        </p:nvSpPr>
        <p:spPr>
          <a:xfrm>
            <a:off x="466722" y="586855"/>
            <a:ext cx="3201366" cy="3387497"/>
          </a:xfrm>
        </p:spPr>
        <p:txBody>
          <a:bodyPr anchor="b">
            <a:normAutofit/>
          </a:bodyPr>
          <a:lstStyle/>
          <a:p>
            <a:pPr algn="r"/>
            <a:r>
              <a:rPr lang="tr-TR" sz="4000">
                <a:solidFill>
                  <a:srgbClr val="FFFFFF"/>
                </a:solidFill>
              </a:rPr>
              <a:t>Veri bilgileri</a:t>
            </a:r>
          </a:p>
        </p:txBody>
      </p:sp>
      <p:sp>
        <p:nvSpPr>
          <p:cNvPr id="3" name="İçerik Yer Tutucusu 2">
            <a:extLst>
              <a:ext uri="{FF2B5EF4-FFF2-40B4-BE49-F238E27FC236}">
                <a16:creationId xmlns:a16="http://schemas.microsoft.com/office/drawing/2014/main" id="{7FF6E5F6-4541-0E4E-A482-0E11D07EA3A0}"/>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r>
              <a:rPr lang="tr-TR" sz="2000" b="1">
                <a:ea typeface="+mn-lt"/>
                <a:cs typeface="+mn-lt"/>
              </a:rPr>
              <a:t>  Toplam Veri Sayısı:</a:t>
            </a:r>
            <a:r>
              <a:rPr lang="tr-TR" sz="2000">
                <a:ea typeface="+mn-lt"/>
                <a:cs typeface="+mn-lt"/>
              </a:rPr>
              <a:t> 937</a:t>
            </a:r>
            <a:endParaRPr lang="tr-TR" sz="2000"/>
          </a:p>
          <a:p>
            <a:r>
              <a:rPr lang="tr-TR" sz="2000" b="1">
                <a:ea typeface="+mn-lt"/>
                <a:cs typeface="+mn-lt"/>
              </a:rPr>
              <a:t>0 Etiketli Veri Sayısı (Negatif/Sızıntı Yok):</a:t>
            </a:r>
            <a:r>
              <a:rPr lang="tr-TR" sz="2000">
                <a:ea typeface="+mn-lt"/>
                <a:cs typeface="+mn-lt"/>
              </a:rPr>
              <a:t> 896 </a:t>
            </a:r>
            <a:endParaRPr lang="tr-TR" sz="2000"/>
          </a:p>
          <a:p>
            <a:r>
              <a:rPr lang="tr-TR" sz="2000" b="1">
                <a:ea typeface="+mn-lt"/>
                <a:cs typeface="+mn-lt"/>
              </a:rPr>
              <a:t>1 Etiketli Veri Sayısı (Pozitif/Sızıntı Var):</a:t>
            </a:r>
            <a:r>
              <a:rPr lang="tr-TR" sz="2000">
                <a:ea typeface="+mn-lt"/>
                <a:cs typeface="+mn-lt"/>
              </a:rPr>
              <a:t> 41 </a:t>
            </a:r>
            <a:endParaRPr lang="tr-TR" sz="2000"/>
          </a:p>
          <a:p>
            <a:r>
              <a:rPr lang="tr-TR" sz="2000" b="1"/>
              <a:t>Eğitim seti:</a:t>
            </a:r>
            <a:r>
              <a:rPr lang="tr-TR" sz="2000" b="1">
                <a:ea typeface="+mn-lt"/>
                <a:cs typeface="+mn-lt"/>
              </a:rPr>
              <a:t> </a:t>
            </a:r>
            <a:r>
              <a:rPr lang="tr-TR" sz="2000">
                <a:ea typeface="+mn-lt"/>
                <a:cs typeface="+mn-lt"/>
              </a:rPr>
              <a:t>655   %70</a:t>
            </a:r>
          </a:p>
          <a:p>
            <a:r>
              <a:rPr lang="tr-TR" sz="2000" b="1"/>
              <a:t>Test seti:</a:t>
            </a:r>
            <a:r>
              <a:rPr lang="tr-TR" sz="2000" b="1">
                <a:ea typeface="+mn-lt"/>
                <a:cs typeface="+mn-lt"/>
              </a:rPr>
              <a:t> </a:t>
            </a:r>
            <a:r>
              <a:rPr lang="tr-TR" sz="2000">
                <a:ea typeface="+mn-lt"/>
                <a:cs typeface="+mn-lt"/>
              </a:rPr>
              <a:t>282   %30</a:t>
            </a:r>
            <a:endParaRPr lang="tr-TR" sz="2000"/>
          </a:p>
          <a:p>
            <a:pPr marL="0" indent="0"/>
            <a:endParaRPr lang="tr-TR" sz="2000"/>
          </a:p>
          <a:p>
            <a:endParaRPr lang="tr-TR" sz="2000"/>
          </a:p>
        </p:txBody>
      </p:sp>
    </p:spTree>
    <p:extLst>
      <p:ext uri="{BB962C8B-B14F-4D97-AF65-F5344CB8AC3E}">
        <p14:creationId xmlns:p14="http://schemas.microsoft.com/office/powerpoint/2010/main" val="2008463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p:cNvSpPr>
            <a:spLocks noGrp="1"/>
          </p:cNvSpPr>
          <p:nvPr>
            <p:ph type="ctrTitle"/>
          </p:nvPr>
        </p:nvSpPr>
        <p:spPr>
          <a:xfrm>
            <a:off x="699713" y="248038"/>
            <a:ext cx="7063721" cy="1159200"/>
          </a:xfrm>
        </p:spPr>
        <p:txBody>
          <a:bodyPr anchor="ctr">
            <a:normAutofit/>
          </a:bodyPr>
          <a:lstStyle/>
          <a:p>
            <a:pPr algn="l"/>
            <a:r>
              <a:rPr lang="tr-TR" sz="4000" dirty="0">
                <a:solidFill>
                  <a:srgbClr val="FFFFFF"/>
                </a:solidFill>
              </a:rPr>
              <a:t>Model Performans Sonuçları</a:t>
            </a:r>
          </a:p>
        </p:txBody>
      </p:sp>
      <p:sp>
        <p:nvSpPr>
          <p:cNvPr id="3" name="Alt Başlık 2"/>
          <p:cNvSpPr>
            <a:spLocks noGrp="1"/>
          </p:cNvSpPr>
          <p:nvPr>
            <p:ph type="subTitle" idx="1"/>
          </p:nvPr>
        </p:nvSpPr>
        <p:spPr>
          <a:xfrm>
            <a:off x="8572499" y="390832"/>
            <a:ext cx="3233585" cy="873612"/>
          </a:xfrm>
        </p:spPr>
        <p:txBody>
          <a:bodyPr anchor="ctr">
            <a:normAutofit/>
          </a:bodyPr>
          <a:lstStyle/>
          <a:p>
            <a:pPr algn="l"/>
            <a:endParaRPr lang="tr-TR" sz="2000">
              <a:solidFill>
                <a:srgbClr val="FFFFFF"/>
              </a:solidFill>
            </a:endParaRPr>
          </a:p>
        </p:txBody>
      </p:sp>
      <p:graphicFrame>
        <p:nvGraphicFramePr>
          <p:cNvPr id="5" name="Tablo 4">
            <a:extLst>
              <a:ext uri="{FF2B5EF4-FFF2-40B4-BE49-F238E27FC236}">
                <a16:creationId xmlns:a16="http://schemas.microsoft.com/office/drawing/2014/main" id="{D8367927-0111-249B-DDFA-D90EDDACE50B}"/>
              </a:ext>
            </a:extLst>
          </p:cNvPr>
          <p:cNvGraphicFramePr>
            <a:graphicFrameLocks noGrp="1"/>
          </p:cNvGraphicFramePr>
          <p:nvPr/>
        </p:nvGraphicFramePr>
        <p:xfrm>
          <a:off x="432225" y="2490354"/>
          <a:ext cx="11327553" cy="3404042"/>
        </p:xfrm>
        <a:graphic>
          <a:graphicData uri="http://schemas.openxmlformats.org/drawingml/2006/table">
            <a:tbl>
              <a:tblPr firstRow="1" bandRow="1">
                <a:solidFill>
                  <a:schemeClr val="tx1">
                    <a:lumMod val="75000"/>
                    <a:lumOff val="25000"/>
                  </a:schemeClr>
                </a:solidFill>
                <a:tableStyleId>{8799B23B-EC83-4686-B30A-512413B5E67A}</a:tableStyleId>
              </a:tblPr>
              <a:tblGrid>
                <a:gridCol w="2654327">
                  <a:extLst>
                    <a:ext uri="{9D8B030D-6E8A-4147-A177-3AD203B41FA5}">
                      <a16:colId xmlns:a16="http://schemas.microsoft.com/office/drawing/2014/main" val="1493436988"/>
                    </a:ext>
                  </a:extLst>
                </a:gridCol>
                <a:gridCol w="1833349">
                  <a:extLst>
                    <a:ext uri="{9D8B030D-6E8A-4147-A177-3AD203B41FA5}">
                      <a16:colId xmlns:a16="http://schemas.microsoft.com/office/drawing/2014/main" val="1797224252"/>
                    </a:ext>
                  </a:extLst>
                </a:gridCol>
                <a:gridCol w="1835689">
                  <a:extLst>
                    <a:ext uri="{9D8B030D-6E8A-4147-A177-3AD203B41FA5}">
                      <a16:colId xmlns:a16="http://schemas.microsoft.com/office/drawing/2014/main" val="2455982375"/>
                    </a:ext>
                  </a:extLst>
                </a:gridCol>
                <a:gridCol w="1370234">
                  <a:extLst>
                    <a:ext uri="{9D8B030D-6E8A-4147-A177-3AD203B41FA5}">
                      <a16:colId xmlns:a16="http://schemas.microsoft.com/office/drawing/2014/main" val="3972371298"/>
                    </a:ext>
                  </a:extLst>
                </a:gridCol>
                <a:gridCol w="1751486">
                  <a:extLst>
                    <a:ext uri="{9D8B030D-6E8A-4147-A177-3AD203B41FA5}">
                      <a16:colId xmlns:a16="http://schemas.microsoft.com/office/drawing/2014/main" val="296512889"/>
                    </a:ext>
                  </a:extLst>
                </a:gridCol>
                <a:gridCol w="1882468">
                  <a:extLst>
                    <a:ext uri="{9D8B030D-6E8A-4147-A177-3AD203B41FA5}">
                      <a16:colId xmlns:a16="http://schemas.microsoft.com/office/drawing/2014/main" val="751707528"/>
                    </a:ext>
                  </a:extLst>
                </a:gridCol>
              </a:tblGrid>
              <a:tr h="642187">
                <a:tc>
                  <a:txBody>
                    <a:bodyPr/>
                    <a:lstStyle/>
                    <a:p>
                      <a:pPr rtl="0">
                        <a:buNone/>
                      </a:pPr>
                      <a:r>
                        <a:rPr lang="tr-TR" sz="2400" b="1" cap="none" spc="0">
                          <a:solidFill>
                            <a:schemeClr val="bg1"/>
                          </a:solidFill>
                          <a:effectLst/>
                        </a:rPr>
                        <a:t>Model</a:t>
                      </a:r>
                      <a:endParaRPr lang="tr-TR" sz="2400" b="1" cap="none" spc="0">
                        <a:solidFill>
                          <a:schemeClr val="bg1"/>
                        </a:solidFill>
                        <a:effectLst/>
                        <a:latin typeface="Google Sans Text"/>
                      </a:endParaRPr>
                    </a:p>
                  </a:txBody>
                  <a:tcPr marL="94307" marR="225263" marT="26945" marB="202087"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400" b="1" cap="none" spc="0">
                          <a:solidFill>
                            <a:schemeClr val="bg1"/>
                          </a:solidFill>
                          <a:effectLst/>
                        </a:rPr>
                        <a:t>Accuracy</a:t>
                      </a:r>
                      <a:endParaRPr lang="tr-TR" sz="2400" b="1" cap="none" spc="0">
                        <a:solidFill>
                          <a:schemeClr val="bg1"/>
                        </a:solidFill>
                        <a:effectLst/>
                        <a:latin typeface="Google Sans Text"/>
                      </a:endParaRPr>
                    </a:p>
                  </a:txBody>
                  <a:tcPr marL="94307" marR="225263" marT="26945" marB="202087"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400" b="1" cap="none" spc="0">
                          <a:solidFill>
                            <a:schemeClr val="bg1"/>
                          </a:solidFill>
                          <a:effectLst/>
                        </a:rPr>
                        <a:t>Precision</a:t>
                      </a:r>
                      <a:endParaRPr lang="tr-TR" sz="2400" b="1" cap="none" spc="0">
                        <a:solidFill>
                          <a:schemeClr val="bg1"/>
                        </a:solidFill>
                        <a:effectLst/>
                        <a:latin typeface="Google Sans Text"/>
                      </a:endParaRPr>
                    </a:p>
                  </a:txBody>
                  <a:tcPr marL="94307" marR="225263" marT="26945" marB="202087"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400" b="1" cap="none" spc="0">
                          <a:solidFill>
                            <a:schemeClr val="bg1"/>
                          </a:solidFill>
                          <a:effectLst/>
                        </a:rPr>
                        <a:t>Recall</a:t>
                      </a:r>
                      <a:endParaRPr lang="tr-TR" sz="2400" b="1" cap="none" spc="0">
                        <a:solidFill>
                          <a:schemeClr val="bg1"/>
                        </a:solidFill>
                        <a:effectLst/>
                        <a:latin typeface="Google Sans Text"/>
                      </a:endParaRPr>
                    </a:p>
                  </a:txBody>
                  <a:tcPr marL="94307" marR="225263" marT="26945" marB="202087"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400" b="1" cap="none" spc="0">
                          <a:solidFill>
                            <a:schemeClr val="bg1"/>
                          </a:solidFill>
                          <a:effectLst/>
                        </a:rPr>
                        <a:t>F1 Score</a:t>
                      </a:r>
                      <a:endParaRPr lang="tr-TR" sz="2400" b="1" cap="none" spc="0">
                        <a:solidFill>
                          <a:schemeClr val="bg1"/>
                        </a:solidFill>
                        <a:effectLst/>
                        <a:latin typeface="Google Sans Text"/>
                      </a:endParaRPr>
                    </a:p>
                  </a:txBody>
                  <a:tcPr marL="94307" marR="225263" marT="26945" marB="202087"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400" b="1" cap="none" spc="0">
                          <a:solidFill>
                            <a:schemeClr val="bg1"/>
                          </a:solidFill>
                          <a:effectLst/>
                        </a:rPr>
                        <a:t>ROC AUC</a:t>
                      </a:r>
                      <a:endParaRPr lang="tr-TR" sz="2400" b="1" cap="none" spc="0">
                        <a:solidFill>
                          <a:schemeClr val="bg1"/>
                        </a:solidFill>
                        <a:effectLst/>
                        <a:latin typeface="Google Sans Text"/>
                      </a:endParaRPr>
                    </a:p>
                  </a:txBody>
                  <a:tcPr marL="94307" marR="225263" marT="26945" marB="202087" anchor="b">
                    <a:lnL w="12700" cmpd="sng">
                      <a:noFill/>
                    </a:lnL>
                    <a:lnR w="12700" cmpd="sng">
                      <a:noFill/>
                    </a:lnR>
                    <a:lnT w="9525" cap="flat" cmpd="sng" algn="ctr">
                      <a:noFill/>
                      <a:prstDash val="solid"/>
                    </a:lnT>
                    <a:lnB w="38100" cmpd="sng">
                      <a:noFill/>
                    </a:lnB>
                    <a:solidFill>
                      <a:schemeClr val="tx1">
                        <a:lumMod val="75000"/>
                        <a:lumOff val="25000"/>
                      </a:schemeClr>
                    </a:solidFill>
                  </a:tcPr>
                </a:tc>
                <a:extLst>
                  <a:ext uri="{0D108BD9-81ED-4DB2-BD59-A6C34878D82A}">
                    <a16:rowId xmlns:a16="http://schemas.microsoft.com/office/drawing/2014/main" val="3233909000"/>
                  </a:ext>
                </a:extLst>
              </a:tr>
              <a:tr h="552371">
                <a:tc>
                  <a:txBody>
                    <a:bodyPr/>
                    <a:lstStyle/>
                    <a:p>
                      <a:pPr rtl="0">
                        <a:buNone/>
                      </a:pPr>
                      <a:r>
                        <a:rPr lang="tr-TR" sz="1800" b="1" cap="none" spc="0">
                          <a:solidFill>
                            <a:schemeClr val="bg1"/>
                          </a:solidFill>
                          <a:effectLst/>
                        </a:rPr>
                        <a:t>SVM</a:t>
                      </a:r>
                      <a:endParaRPr lang="tr-TR" sz="1800" cap="none" spc="0">
                        <a:solidFill>
                          <a:schemeClr val="bg1"/>
                        </a:solidFill>
                        <a:effectLst/>
                        <a:latin typeface="Google Sans Text"/>
                      </a:endParaRPr>
                    </a:p>
                  </a:txBody>
                  <a:tcPr marL="94307" marR="225263" marT="26945" marB="202087" anchor="ctr">
                    <a:lnL w="12700" cap="flat" cmpd="sng" algn="ctr">
                      <a:solidFill>
                        <a:schemeClr val="bg1"/>
                      </a:solid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0.965</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0.750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0.250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0.375</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0.878</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9477353"/>
                  </a:ext>
                </a:extLst>
              </a:tr>
              <a:tr h="552371">
                <a:tc>
                  <a:txBody>
                    <a:bodyPr/>
                    <a:lstStyle/>
                    <a:p>
                      <a:pPr rtl="0">
                        <a:buNone/>
                      </a:pPr>
                      <a:r>
                        <a:rPr lang="tr-TR" sz="1800" b="1" cap="none" spc="0">
                          <a:solidFill>
                            <a:schemeClr val="bg1"/>
                          </a:solidFill>
                          <a:effectLst/>
                        </a:rPr>
                        <a:t>KNN</a:t>
                      </a:r>
                      <a:endParaRPr lang="tr-TR" sz="1800" cap="none" spc="0">
                        <a:solidFill>
                          <a:schemeClr val="bg1"/>
                        </a:solidFill>
                        <a:effectLst/>
                        <a:latin typeface="Google Sans Text"/>
                      </a:endParaRPr>
                    </a:p>
                  </a:txBody>
                  <a:tcPr marL="94307" marR="225263" marT="26945" marB="202087"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0.968</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1.000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0.250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0.400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0.769</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2760837405"/>
                  </a:ext>
                </a:extLst>
              </a:tr>
              <a:tr h="552371">
                <a:tc>
                  <a:txBody>
                    <a:bodyPr/>
                    <a:lstStyle/>
                    <a:p>
                      <a:pPr rtl="0">
                        <a:buNone/>
                      </a:pPr>
                      <a:r>
                        <a:rPr lang="tr-TR" sz="1800" b="1" cap="none" spc="0">
                          <a:solidFill>
                            <a:schemeClr val="bg1"/>
                          </a:solidFill>
                          <a:effectLst/>
                        </a:rPr>
                        <a:t>Decision Tree</a:t>
                      </a:r>
                      <a:endParaRPr lang="tr-TR" sz="1800" cap="none" spc="0">
                        <a:solidFill>
                          <a:schemeClr val="bg1"/>
                        </a:solidFill>
                        <a:effectLst/>
                        <a:latin typeface="Google Sans Text"/>
                      </a:endParaRPr>
                    </a:p>
                  </a:txBody>
                  <a:tcPr marL="94307" marR="225263" marT="26945" marB="202087"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0.943</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0.333</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0.333</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0.333</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0.652</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711846015"/>
                  </a:ext>
                </a:extLst>
              </a:tr>
              <a:tr h="552371">
                <a:tc>
                  <a:txBody>
                    <a:bodyPr/>
                    <a:lstStyle/>
                    <a:p>
                      <a:pPr rtl="0">
                        <a:buNone/>
                      </a:pPr>
                      <a:r>
                        <a:rPr lang="tr-TR" sz="1800" b="1" cap="none" spc="0">
                          <a:solidFill>
                            <a:schemeClr val="bg1"/>
                          </a:solidFill>
                          <a:effectLst/>
                        </a:rPr>
                        <a:t>MLP Neural Network</a:t>
                      </a:r>
                      <a:endParaRPr lang="tr-TR" sz="1800" cap="none" spc="0">
                        <a:solidFill>
                          <a:schemeClr val="bg1"/>
                        </a:solidFill>
                        <a:effectLst/>
                        <a:latin typeface="Google Sans Text"/>
                      </a:endParaRPr>
                    </a:p>
                  </a:txBody>
                  <a:tcPr marL="94307" marR="225263" marT="26945" marB="202087"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0.957</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0.500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0.417</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0.455</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1800" cap="none" spc="0">
                          <a:solidFill>
                            <a:schemeClr val="bg1"/>
                          </a:solidFill>
                          <a:effectLst/>
                        </a:rPr>
                        <a:t>0.848</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257390194"/>
                  </a:ext>
                </a:extLst>
              </a:tr>
              <a:tr h="552371">
                <a:tc>
                  <a:txBody>
                    <a:bodyPr/>
                    <a:lstStyle/>
                    <a:p>
                      <a:pPr rtl="0">
                        <a:buNone/>
                      </a:pPr>
                      <a:r>
                        <a:rPr lang="tr-TR" sz="1800" b="1" cap="none" spc="0">
                          <a:solidFill>
                            <a:schemeClr val="bg1"/>
                          </a:solidFill>
                          <a:effectLst/>
                        </a:rPr>
                        <a:t>Random Forest</a:t>
                      </a:r>
                      <a:endParaRPr lang="tr-TR" sz="1800" cap="none" spc="0">
                        <a:solidFill>
                          <a:schemeClr val="bg1"/>
                        </a:solidFill>
                        <a:effectLst/>
                        <a:latin typeface="Google Sans Text"/>
                      </a:endParaRPr>
                    </a:p>
                  </a:txBody>
                  <a:tcPr marL="94307" marR="225263" marT="26945" marB="202087"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0.968</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0.800</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0.333</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0.471</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1800" cap="none" spc="0">
                          <a:solidFill>
                            <a:schemeClr val="bg1"/>
                          </a:solidFill>
                          <a:effectLst/>
                        </a:rPr>
                        <a:t>0.896</a:t>
                      </a:r>
                      <a:endParaRPr lang="tr-TR" sz="1800" cap="none" spc="0">
                        <a:solidFill>
                          <a:schemeClr val="bg1"/>
                        </a:solidFill>
                        <a:effectLst/>
                        <a:latin typeface="Google Sans Text"/>
                      </a:endParaRPr>
                    </a:p>
                  </a:txBody>
                  <a:tcPr marL="94307" marR="225263" marT="26945" marB="202087"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1782608756"/>
                  </a:ext>
                </a:extLst>
              </a:tr>
            </a:tbl>
          </a:graphicData>
        </a:graphic>
      </p:graphicFrame>
    </p:spTree>
    <p:extLst>
      <p:ext uri="{BB962C8B-B14F-4D97-AF65-F5344CB8AC3E}">
        <p14:creationId xmlns:p14="http://schemas.microsoft.com/office/powerpoint/2010/main" val="1674425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7D08443-06FE-A742-B64E-8D64C18FF72D}"/>
              </a:ext>
            </a:extLst>
          </p:cNvPr>
          <p:cNvSpPr>
            <a:spLocks noGrp="1"/>
          </p:cNvSpPr>
          <p:nvPr>
            <p:ph type="title"/>
          </p:nvPr>
        </p:nvSpPr>
        <p:spPr>
          <a:xfrm>
            <a:off x="1371599" y="5510253"/>
            <a:ext cx="9895951" cy="1033669"/>
          </a:xfrm>
        </p:spPr>
        <p:txBody>
          <a:bodyPr>
            <a:normAutofit/>
          </a:bodyPr>
          <a:lstStyle/>
          <a:p>
            <a:r>
              <a:rPr lang="tr-TR" sz="4000">
                <a:solidFill>
                  <a:srgbClr val="FFFFFF"/>
                </a:solidFill>
              </a:rPr>
              <a:t>Modellerin karşılaştırılmaları</a:t>
            </a:r>
          </a:p>
        </p:txBody>
      </p:sp>
      <p:pic>
        <p:nvPicPr>
          <p:cNvPr id="4" name="İçerik Yer Tutucusu 3" descr="metin, ekran görüntüsü, renklilik, diyagram içeren bir resim&#10;&#10;Yapay zeka tarafından oluşturulmuş içerik yanlış olabilir.">
            <a:extLst>
              <a:ext uri="{FF2B5EF4-FFF2-40B4-BE49-F238E27FC236}">
                <a16:creationId xmlns:a16="http://schemas.microsoft.com/office/drawing/2014/main" id="{FBBE9CA6-8744-EEB6-D6D2-E0E13852F915}"/>
              </a:ext>
            </a:extLst>
          </p:cNvPr>
          <p:cNvPicPr>
            <a:picLocks noChangeAspect="1"/>
          </p:cNvPicPr>
          <p:nvPr/>
        </p:nvPicPr>
        <p:blipFill>
          <a:blip r:embed="rId2"/>
          <a:stretch>
            <a:fillRect/>
          </a:stretch>
        </p:blipFill>
        <p:spPr>
          <a:xfrm>
            <a:off x="1498966" y="402570"/>
            <a:ext cx="9173746" cy="4566553"/>
          </a:xfrm>
          <a:prstGeom prst="rect">
            <a:avLst/>
          </a:prstGeom>
        </p:spPr>
      </p:pic>
      <p:sp>
        <p:nvSpPr>
          <p:cNvPr id="8" name="Content Placeholder 7">
            <a:extLst>
              <a:ext uri="{FF2B5EF4-FFF2-40B4-BE49-F238E27FC236}">
                <a16:creationId xmlns:a16="http://schemas.microsoft.com/office/drawing/2014/main" id="{35FC8D3B-3158-5255-EC0F-74411F5EC8B7}"/>
              </a:ext>
            </a:extLst>
          </p:cNvPr>
          <p:cNvSpPr>
            <a:spLocks noGrp="1"/>
          </p:cNvSpPr>
          <p:nvPr>
            <p:ph idx="1"/>
          </p:nvPr>
        </p:nvSpPr>
        <p:spPr>
          <a:xfrm>
            <a:off x="1940256" y="3833199"/>
            <a:ext cx="8332826" cy="1119982"/>
          </a:xfrm>
        </p:spPr>
        <p:txBody>
          <a:bodyPr anchor="ctr">
            <a:normAutofit/>
          </a:bodyPr>
          <a:lstStyle/>
          <a:p>
            <a:endParaRPr lang="en-US" sz="2000"/>
          </a:p>
        </p:txBody>
      </p:sp>
    </p:spTree>
    <p:extLst>
      <p:ext uri="{BB962C8B-B14F-4D97-AF65-F5344CB8AC3E}">
        <p14:creationId xmlns:p14="http://schemas.microsoft.com/office/powerpoint/2010/main" val="4288151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8">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çerik Yer Tutucusu 13" descr="metin, çizgi, diyagram, paralel içeren bir resim">
            <a:extLst>
              <a:ext uri="{FF2B5EF4-FFF2-40B4-BE49-F238E27FC236}">
                <a16:creationId xmlns:a16="http://schemas.microsoft.com/office/drawing/2014/main" id="{5F5D2DEB-89CF-9D73-26E5-A56DA903CCD8}"/>
              </a:ext>
            </a:extLst>
          </p:cNvPr>
          <p:cNvPicPr>
            <a:picLocks noChangeAspect="1"/>
          </p:cNvPicPr>
          <p:nvPr/>
        </p:nvPicPr>
        <p:blipFill>
          <a:blip r:embed="rId2"/>
          <a:stretch>
            <a:fillRect/>
          </a:stretch>
        </p:blipFill>
        <p:spPr>
          <a:xfrm>
            <a:off x="643467" y="1311113"/>
            <a:ext cx="5294716" cy="4235771"/>
          </a:xfrm>
          <a:prstGeom prst="rect">
            <a:avLst/>
          </a:prstGeom>
        </p:spPr>
      </p:pic>
      <p:cxnSp>
        <p:nvCxnSpPr>
          <p:cNvPr id="53" name="Straight Connector 52">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2" name="İçerik Yer Tutucusu 1" descr="metin, ekran görüntüsü, yazı tipi, sayı, numara içeren bir resim&#10;&#10;Yapay zeka tarafından oluşturulmuş içerik yanlış olabilir.">
            <a:extLst>
              <a:ext uri="{FF2B5EF4-FFF2-40B4-BE49-F238E27FC236}">
                <a16:creationId xmlns:a16="http://schemas.microsoft.com/office/drawing/2014/main" id="{1D4D02DD-16AB-00EA-4DEB-7BA7C2888CA2}"/>
              </a:ext>
            </a:extLst>
          </p:cNvPr>
          <p:cNvPicPr>
            <a:picLocks noGrp="1" noChangeAspect="1"/>
          </p:cNvPicPr>
          <p:nvPr>
            <p:ph idx="1"/>
          </p:nvPr>
        </p:nvPicPr>
        <p:blipFill>
          <a:blip r:embed="rId3"/>
          <a:stretch>
            <a:fillRect/>
          </a:stretch>
        </p:blipFill>
        <p:spPr>
          <a:xfrm>
            <a:off x="6253817" y="1225075"/>
            <a:ext cx="5294715" cy="4407850"/>
          </a:xfrm>
          <a:prstGeom prst="rect">
            <a:avLst/>
          </a:prstGeom>
        </p:spPr>
      </p:pic>
    </p:spTree>
    <p:extLst>
      <p:ext uri="{BB962C8B-B14F-4D97-AF65-F5344CB8AC3E}">
        <p14:creationId xmlns:p14="http://schemas.microsoft.com/office/powerpoint/2010/main" val="100135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5" name="Resim 4" descr="metin, ekran görüntüsü, yazı tipi, diyagram içeren bir resim&#10;&#10;Yapay zeka tarafından oluşturulmuş içerik yanlış olabilir.">
            <a:extLst>
              <a:ext uri="{FF2B5EF4-FFF2-40B4-BE49-F238E27FC236}">
                <a16:creationId xmlns:a16="http://schemas.microsoft.com/office/drawing/2014/main" id="{90E8D61B-7F76-BF9B-D770-6A7E08168035}"/>
              </a:ext>
            </a:extLst>
          </p:cNvPr>
          <p:cNvPicPr>
            <a:picLocks noChangeAspect="1"/>
          </p:cNvPicPr>
          <p:nvPr/>
        </p:nvPicPr>
        <p:blipFill>
          <a:blip r:embed="rId2"/>
          <a:stretch>
            <a:fillRect/>
          </a:stretch>
        </p:blipFill>
        <p:spPr>
          <a:xfrm>
            <a:off x="706239" y="643466"/>
            <a:ext cx="3152748" cy="2624663"/>
          </a:xfrm>
          <a:prstGeom prst="rect">
            <a:avLst/>
          </a:prstGeom>
        </p:spPr>
      </p:pic>
      <p:pic>
        <p:nvPicPr>
          <p:cNvPr id="7" name="Resim 6" descr="metin, ekran görüntüsü, yazı tipi, diyagram içeren bir resim&#10;&#10;Yapay zeka tarafından oluşturulmuş içerik yanlış olabilir.">
            <a:extLst>
              <a:ext uri="{FF2B5EF4-FFF2-40B4-BE49-F238E27FC236}">
                <a16:creationId xmlns:a16="http://schemas.microsoft.com/office/drawing/2014/main" id="{1A34C28A-2FB5-533A-38DC-1675BE98604A}"/>
              </a:ext>
            </a:extLst>
          </p:cNvPr>
          <p:cNvPicPr>
            <a:picLocks noChangeAspect="1"/>
          </p:cNvPicPr>
          <p:nvPr/>
        </p:nvPicPr>
        <p:blipFill>
          <a:blip r:embed="rId3"/>
          <a:stretch>
            <a:fillRect/>
          </a:stretch>
        </p:blipFill>
        <p:spPr>
          <a:xfrm>
            <a:off x="4243493" y="1870749"/>
            <a:ext cx="3743538" cy="3116495"/>
          </a:xfrm>
          <a:prstGeom prst="rect">
            <a:avLst/>
          </a:prstGeom>
        </p:spPr>
      </p:pic>
      <p:pic>
        <p:nvPicPr>
          <p:cNvPr id="4" name="İçerik Yer Tutucusu 3" descr="metin, ekran görüntüsü, yazı tipi, sayı, numara içeren bir resim&#10;&#10;Yapay zeka tarafından oluşturulmuş içerik yanlış olabilir.">
            <a:extLst>
              <a:ext uri="{FF2B5EF4-FFF2-40B4-BE49-F238E27FC236}">
                <a16:creationId xmlns:a16="http://schemas.microsoft.com/office/drawing/2014/main" id="{AD23E0AF-D4DD-96EA-AC8C-AAC72EEBFEB0}"/>
              </a:ext>
            </a:extLst>
          </p:cNvPr>
          <p:cNvPicPr>
            <a:picLocks noGrp="1" noChangeAspect="1"/>
          </p:cNvPicPr>
          <p:nvPr>
            <p:ph idx="1"/>
          </p:nvPr>
        </p:nvPicPr>
        <p:blipFill>
          <a:blip r:embed="rId4"/>
          <a:stretch>
            <a:fillRect/>
          </a:stretch>
        </p:blipFill>
        <p:spPr>
          <a:xfrm>
            <a:off x="8352275" y="643466"/>
            <a:ext cx="3152747" cy="2624662"/>
          </a:xfrm>
          <a:prstGeom prst="rect">
            <a:avLst/>
          </a:prstGeom>
        </p:spPr>
      </p:pic>
      <p:pic>
        <p:nvPicPr>
          <p:cNvPr id="8" name="Resim 7" descr="metin, ekran görüntüsü, yazı tipi, sayı, numara içeren bir resim&#10;&#10;Yapay zeka tarafından oluşturulmuş içerik yanlış olabilir.">
            <a:extLst>
              <a:ext uri="{FF2B5EF4-FFF2-40B4-BE49-F238E27FC236}">
                <a16:creationId xmlns:a16="http://schemas.microsoft.com/office/drawing/2014/main" id="{7F942D14-0D7C-1935-E5CC-43686BEF0540}"/>
              </a:ext>
            </a:extLst>
          </p:cNvPr>
          <p:cNvPicPr>
            <a:picLocks noChangeAspect="1"/>
          </p:cNvPicPr>
          <p:nvPr/>
        </p:nvPicPr>
        <p:blipFill>
          <a:blip r:embed="rId5"/>
          <a:stretch>
            <a:fillRect/>
          </a:stretch>
        </p:blipFill>
        <p:spPr>
          <a:xfrm>
            <a:off x="706238" y="3589863"/>
            <a:ext cx="3152750" cy="2624665"/>
          </a:xfrm>
          <a:prstGeom prst="rect">
            <a:avLst/>
          </a:prstGeom>
        </p:spPr>
      </p:pic>
      <p:pic>
        <p:nvPicPr>
          <p:cNvPr id="6" name="Resim 5" descr="metin, ekran görüntüsü, yazı tipi, sayı, numara içeren bir resim&#10;&#10;Yapay zeka tarafından oluşturulmuş içerik yanlış olabilir.">
            <a:extLst>
              <a:ext uri="{FF2B5EF4-FFF2-40B4-BE49-F238E27FC236}">
                <a16:creationId xmlns:a16="http://schemas.microsoft.com/office/drawing/2014/main" id="{9BF6A1D1-82A3-3E22-EDBC-DFFF5A787127}"/>
              </a:ext>
            </a:extLst>
          </p:cNvPr>
          <p:cNvPicPr>
            <a:picLocks noChangeAspect="1"/>
          </p:cNvPicPr>
          <p:nvPr/>
        </p:nvPicPr>
        <p:blipFill>
          <a:blip r:embed="rId6"/>
          <a:stretch>
            <a:fillRect/>
          </a:stretch>
        </p:blipFill>
        <p:spPr>
          <a:xfrm>
            <a:off x="8340664" y="3589863"/>
            <a:ext cx="3175966" cy="2643992"/>
          </a:xfrm>
          <a:prstGeom prst="rect">
            <a:avLst/>
          </a:prstGeom>
        </p:spPr>
      </p:pic>
    </p:spTree>
    <p:extLst>
      <p:ext uri="{BB962C8B-B14F-4D97-AF65-F5344CB8AC3E}">
        <p14:creationId xmlns:p14="http://schemas.microsoft.com/office/powerpoint/2010/main" val="528451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937FA55-6773-72FB-E4F2-9B2FC0A58888}"/>
              </a:ext>
            </a:extLst>
          </p:cNvPr>
          <p:cNvSpPr>
            <a:spLocks noGrp="1"/>
          </p:cNvSpPr>
          <p:nvPr>
            <p:ph type="title"/>
          </p:nvPr>
        </p:nvSpPr>
        <p:spPr>
          <a:xfrm>
            <a:off x="1383564" y="348865"/>
            <a:ext cx="9718111" cy="1576446"/>
          </a:xfrm>
        </p:spPr>
        <p:txBody>
          <a:bodyPr anchor="ctr">
            <a:normAutofit/>
          </a:bodyPr>
          <a:lstStyle/>
          <a:p>
            <a:r>
              <a:rPr lang="tr-TR" sz="4000" err="1">
                <a:solidFill>
                  <a:srgbClr val="FFFFFF"/>
                </a:solidFill>
              </a:rPr>
              <a:t>Random</a:t>
            </a:r>
            <a:r>
              <a:rPr lang="tr-TR" sz="4000">
                <a:solidFill>
                  <a:srgbClr val="FFFFFF"/>
                </a:solidFill>
              </a:rPr>
              <a:t> </a:t>
            </a:r>
            <a:r>
              <a:rPr lang="tr-TR" sz="4000" err="1">
                <a:solidFill>
                  <a:srgbClr val="FFFFFF"/>
                </a:solidFill>
              </a:rPr>
              <a:t>forestla</a:t>
            </a:r>
            <a:r>
              <a:rPr lang="tr-TR" sz="4000">
                <a:solidFill>
                  <a:srgbClr val="FFFFFF"/>
                </a:solidFill>
              </a:rPr>
              <a:t> en etkili 10 özellik seçilmiştir</a:t>
            </a:r>
          </a:p>
        </p:txBody>
      </p:sp>
      <p:graphicFrame>
        <p:nvGraphicFramePr>
          <p:cNvPr id="5" name="İçerik Yer Tutucusu 4">
            <a:extLst>
              <a:ext uri="{FF2B5EF4-FFF2-40B4-BE49-F238E27FC236}">
                <a16:creationId xmlns:a16="http://schemas.microsoft.com/office/drawing/2014/main" id="{1D612A47-3446-CB40-3F21-A6A85C1B3A27}"/>
              </a:ext>
            </a:extLst>
          </p:cNvPr>
          <p:cNvGraphicFramePr>
            <a:graphicFrameLocks noGrp="1"/>
          </p:cNvGraphicFramePr>
          <p:nvPr>
            <p:ph idx="1"/>
          </p:nvPr>
        </p:nvGraphicFramePr>
        <p:xfrm>
          <a:off x="644056" y="2976824"/>
          <a:ext cx="10927833" cy="2967720"/>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2437500">
                  <a:extLst>
                    <a:ext uri="{9D8B030D-6E8A-4147-A177-3AD203B41FA5}">
                      <a16:colId xmlns:a16="http://schemas.microsoft.com/office/drawing/2014/main" val="1405901420"/>
                    </a:ext>
                  </a:extLst>
                </a:gridCol>
                <a:gridCol w="1766112">
                  <a:extLst>
                    <a:ext uri="{9D8B030D-6E8A-4147-A177-3AD203B41FA5}">
                      <a16:colId xmlns:a16="http://schemas.microsoft.com/office/drawing/2014/main" val="1843504316"/>
                    </a:ext>
                  </a:extLst>
                </a:gridCol>
                <a:gridCol w="1777455">
                  <a:extLst>
                    <a:ext uri="{9D8B030D-6E8A-4147-A177-3AD203B41FA5}">
                      <a16:colId xmlns:a16="http://schemas.microsoft.com/office/drawing/2014/main" val="3973662757"/>
                    </a:ext>
                  </a:extLst>
                </a:gridCol>
                <a:gridCol w="1450833">
                  <a:extLst>
                    <a:ext uri="{9D8B030D-6E8A-4147-A177-3AD203B41FA5}">
                      <a16:colId xmlns:a16="http://schemas.microsoft.com/office/drawing/2014/main" val="1939601744"/>
                    </a:ext>
                  </a:extLst>
                </a:gridCol>
                <a:gridCol w="1711676">
                  <a:extLst>
                    <a:ext uri="{9D8B030D-6E8A-4147-A177-3AD203B41FA5}">
                      <a16:colId xmlns:a16="http://schemas.microsoft.com/office/drawing/2014/main" val="269112613"/>
                    </a:ext>
                  </a:extLst>
                </a:gridCol>
                <a:gridCol w="1784257">
                  <a:extLst>
                    <a:ext uri="{9D8B030D-6E8A-4147-A177-3AD203B41FA5}">
                      <a16:colId xmlns:a16="http://schemas.microsoft.com/office/drawing/2014/main" val="3129320497"/>
                    </a:ext>
                  </a:extLst>
                </a:gridCol>
              </a:tblGrid>
              <a:tr h="494620">
                <a:tc>
                  <a:txBody>
                    <a:bodyPr/>
                    <a:lstStyle/>
                    <a:p>
                      <a:pPr rtl="0">
                        <a:buNone/>
                      </a:pPr>
                      <a:r>
                        <a:rPr lang="tr-TR" sz="1700" b="0" cap="none" spc="0">
                          <a:solidFill>
                            <a:schemeClr val="bg1"/>
                          </a:solidFill>
                          <a:effectLst/>
                          <a:latin typeface="Google Sans Text"/>
                        </a:rPr>
                        <a:t>Model</a:t>
                      </a:r>
                    </a:p>
                  </a:txBody>
                  <a:tcPr marL="139360" marR="168800" marT="107199" marB="10719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rtl="0">
                        <a:buNone/>
                      </a:pPr>
                      <a:r>
                        <a:rPr lang="tr-TR" sz="1700" b="0" cap="none" spc="0">
                          <a:solidFill>
                            <a:schemeClr val="bg1"/>
                          </a:solidFill>
                          <a:effectLst/>
                          <a:latin typeface="Google Sans Text"/>
                        </a:rPr>
                        <a:t>Accuracy</a:t>
                      </a:r>
                    </a:p>
                  </a:txBody>
                  <a:tcPr marL="139360" marR="168800" marT="107199" marB="10719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a:buNone/>
                      </a:pPr>
                      <a:r>
                        <a:rPr lang="tr-TR" sz="1700" b="0" cap="none" spc="0">
                          <a:solidFill>
                            <a:schemeClr val="bg1"/>
                          </a:solidFill>
                          <a:effectLst/>
                          <a:latin typeface="Google Sans Text"/>
                        </a:rPr>
                        <a:t>Precision</a:t>
                      </a:r>
                    </a:p>
                  </a:txBody>
                  <a:tcPr marL="139360" marR="168800" marT="107199" marB="10719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a:buNone/>
                      </a:pPr>
                      <a:r>
                        <a:rPr lang="tr-TR" sz="1700" b="0" cap="none" spc="0">
                          <a:solidFill>
                            <a:schemeClr val="bg1"/>
                          </a:solidFill>
                          <a:effectLst/>
                          <a:latin typeface="Google Sans Text"/>
                        </a:rPr>
                        <a:t>Recall</a:t>
                      </a:r>
                    </a:p>
                  </a:txBody>
                  <a:tcPr marL="139360" marR="168800" marT="107199" marB="10719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a:buNone/>
                      </a:pPr>
                      <a:r>
                        <a:rPr lang="tr-TR" sz="1700" b="0" cap="none" spc="0">
                          <a:solidFill>
                            <a:schemeClr val="bg1"/>
                          </a:solidFill>
                          <a:effectLst/>
                          <a:latin typeface="Google Sans Text"/>
                        </a:rPr>
                        <a:t>F1 Score</a:t>
                      </a:r>
                    </a:p>
                  </a:txBody>
                  <a:tcPr marL="139360" marR="168800" marT="107199" marB="10719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a:buNone/>
                      </a:pPr>
                      <a:r>
                        <a:rPr lang="tr-TR" sz="1700" b="0" cap="none" spc="0">
                          <a:solidFill>
                            <a:schemeClr val="bg1"/>
                          </a:solidFill>
                          <a:effectLst/>
                          <a:latin typeface="Google Sans Text"/>
                        </a:rPr>
                        <a:t>ROC AUC</a:t>
                      </a:r>
                    </a:p>
                  </a:txBody>
                  <a:tcPr marL="139360" marR="168800" marT="107199" marB="10719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341989570"/>
                  </a:ext>
                </a:extLst>
              </a:tr>
              <a:tr h="494620">
                <a:tc>
                  <a:txBody>
                    <a:bodyPr/>
                    <a:lstStyle/>
                    <a:p>
                      <a:pPr rtl="0">
                        <a:buNone/>
                      </a:pPr>
                      <a:r>
                        <a:rPr lang="tr-TR" sz="1700" b="1" cap="none" spc="0">
                          <a:solidFill>
                            <a:schemeClr val="bg1"/>
                          </a:solidFill>
                          <a:effectLst/>
                          <a:latin typeface="Google Sans Text"/>
                        </a:rPr>
                        <a:t>SVM</a:t>
                      </a:r>
                      <a:endParaRPr lang="tr-TR" sz="1700" cap="none" spc="0">
                        <a:solidFill>
                          <a:schemeClr val="bg1"/>
                        </a:solidFill>
                        <a:effectLst/>
                        <a:latin typeface="Google Sans Text"/>
                      </a:endParaRPr>
                    </a:p>
                  </a:txBody>
                  <a:tcPr marL="139360" marR="168800" marT="107199" marB="107199" anchor="ctr">
                    <a:lnL w="38100" cap="flat" cmpd="sng" algn="ctr">
                      <a:no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0.972</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0.833</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0.417</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0.556</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0.788</a:t>
                      </a:r>
                    </a:p>
                  </a:txBody>
                  <a:tcPr marL="139360" marR="168800" marT="107199" marB="107199" anchor="ctr">
                    <a:lnL w="6350" cap="flat" cmpd="sng" algn="ctr">
                      <a:solidFill>
                        <a:schemeClr val="tx1">
                          <a:lumMod val="50000"/>
                          <a:lumOff val="50000"/>
                        </a:schemeClr>
                      </a:solidFill>
                      <a:prstDash val="solid"/>
                    </a:lnL>
                    <a:lnR w="38100" cap="flat" cmpd="sng" algn="ctr">
                      <a:no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977884251"/>
                  </a:ext>
                </a:extLst>
              </a:tr>
              <a:tr h="494620">
                <a:tc>
                  <a:txBody>
                    <a:bodyPr/>
                    <a:lstStyle/>
                    <a:p>
                      <a:pPr rtl="0">
                        <a:buNone/>
                      </a:pPr>
                      <a:r>
                        <a:rPr lang="tr-TR" sz="1700" b="1" cap="none" spc="0">
                          <a:solidFill>
                            <a:schemeClr val="bg1"/>
                          </a:solidFill>
                          <a:effectLst/>
                          <a:latin typeface="Google Sans Text"/>
                        </a:rPr>
                        <a:t>KNN</a:t>
                      </a:r>
                      <a:endParaRPr lang="tr-TR" sz="1700" cap="none" spc="0">
                        <a:solidFill>
                          <a:schemeClr val="bg1"/>
                        </a:solidFill>
                        <a:effectLst/>
                        <a:latin typeface="Google Sans Text"/>
                      </a:endParaRP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0.968</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0.714</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0.417</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0.526</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0.771</a:t>
                      </a:r>
                    </a:p>
                  </a:txBody>
                  <a:tcPr marL="139360" marR="168800" marT="107199" marB="10719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2090049456"/>
                  </a:ext>
                </a:extLst>
              </a:tr>
              <a:tr h="494620">
                <a:tc>
                  <a:txBody>
                    <a:bodyPr/>
                    <a:lstStyle/>
                    <a:p>
                      <a:pPr rtl="0">
                        <a:buNone/>
                      </a:pPr>
                      <a:r>
                        <a:rPr lang="tr-TR" sz="1700" b="1" cap="none" spc="0">
                          <a:solidFill>
                            <a:schemeClr val="bg1"/>
                          </a:solidFill>
                          <a:effectLst/>
                          <a:latin typeface="Google Sans Text"/>
                        </a:rPr>
                        <a:t>Decision Tree</a:t>
                      </a:r>
                      <a:endParaRPr lang="tr-TR" sz="1700" cap="none" spc="0">
                        <a:solidFill>
                          <a:schemeClr val="bg1"/>
                        </a:solidFill>
                        <a:effectLst/>
                        <a:latin typeface="Google Sans Text"/>
                      </a:endParaRPr>
                    </a:p>
                  </a:txBody>
                  <a:tcPr marL="139360" marR="168800" marT="107199" marB="107199"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0.940</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0.308</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0.333</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0.320</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0.650</a:t>
                      </a:r>
                    </a:p>
                  </a:txBody>
                  <a:tcPr marL="139360" marR="168800" marT="107199" marB="107199"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523011753"/>
                  </a:ext>
                </a:extLst>
              </a:tr>
              <a:tr h="494620">
                <a:tc>
                  <a:txBody>
                    <a:bodyPr/>
                    <a:lstStyle/>
                    <a:p>
                      <a:pPr rtl="0">
                        <a:buNone/>
                      </a:pPr>
                      <a:r>
                        <a:rPr lang="tr-TR" sz="1700" b="1" cap="none" spc="0">
                          <a:solidFill>
                            <a:schemeClr val="bg1"/>
                          </a:solidFill>
                          <a:effectLst/>
                          <a:latin typeface="Google Sans Text"/>
                        </a:rPr>
                        <a:t>MLP Neural Network</a:t>
                      </a:r>
                      <a:endParaRPr lang="tr-TR" sz="1700" cap="none" spc="0">
                        <a:solidFill>
                          <a:schemeClr val="bg1"/>
                        </a:solidFill>
                        <a:effectLst/>
                        <a:latin typeface="Google Sans Text"/>
                      </a:endParaRP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0.968</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0.714</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0.417</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0.526</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pPr rtl="0">
                        <a:buNone/>
                      </a:pPr>
                      <a:r>
                        <a:rPr lang="tr-TR" sz="1700" cap="none" spc="0">
                          <a:solidFill>
                            <a:schemeClr val="bg1"/>
                          </a:solidFill>
                          <a:effectLst/>
                          <a:latin typeface="Google Sans Text"/>
                        </a:rPr>
                        <a:t>0.850</a:t>
                      </a:r>
                    </a:p>
                  </a:txBody>
                  <a:tcPr marL="139360" marR="168800" marT="107199" marB="10719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657407222"/>
                  </a:ext>
                </a:extLst>
              </a:tr>
              <a:tr h="494620">
                <a:tc>
                  <a:txBody>
                    <a:bodyPr/>
                    <a:lstStyle/>
                    <a:p>
                      <a:pPr rtl="0">
                        <a:buNone/>
                      </a:pPr>
                      <a:r>
                        <a:rPr lang="tr-TR" sz="1700" b="1" cap="none" spc="0">
                          <a:solidFill>
                            <a:schemeClr val="bg1"/>
                          </a:solidFill>
                          <a:effectLst/>
                          <a:latin typeface="Google Sans Text"/>
                        </a:rPr>
                        <a:t>Random Forest</a:t>
                      </a:r>
                      <a:endParaRPr lang="tr-TR" sz="1700" cap="none" spc="0">
                        <a:solidFill>
                          <a:schemeClr val="bg1"/>
                        </a:solidFill>
                        <a:effectLst/>
                        <a:latin typeface="Google Sans Text"/>
                      </a:endParaRPr>
                    </a:p>
                  </a:txBody>
                  <a:tcPr marL="139360" marR="168800" marT="107199" marB="107199"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0.961</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0.571</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0.333</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0.421</a:t>
                      </a:r>
                    </a:p>
                  </a:txBody>
                  <a:tcPr marL="139360" marR="168800" marT="107199" marB="10719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pPr rtl="0">
                        <a:buNone/>
                      </a:pPr>
                      <a:r>
                        <a:rPr lang="tr-TR" sz="1700" cap="none" spc="0">
                          <a:solidFill>
                            <a:schemeClr val="bg1"/>
                          </a:solidFill>
                          <a:effectLst/>
                          <a:latin typeface="Google Sans Text"/>
                        </a:rPr>
                        <a:t>0.825</a:t>
                      </a:r>
                    </a:p>
                  </a:txBody>
                  <a:tcPr marL="139360" marR="168800" marT="107199" marB="107199"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2876783439"/>
                  </a:ext>
                </a:extLst>
              </a:tr>
            </a:tbl>
          </a:graphicData>
        </a:graphic>
      </p:graphicFrame>
    </p:spTree>
    <p:extLst>
      <p:ext uri="{BB962C8B-B14F-4D97-AF65-F5344CB8AC3E}">
        <p14:creationId xmlns:p14="http://schemas.microsoft.com/office/powerpoint/2010/main" val="51120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9A4F743-E5C3-B054-F567-B31957BAE495}"/>
              </a:ext>
            </a:extLst>
          </p:cNvPr>
          <p:cNvSpPr>
            <a:spLocks noGrp="1"/>
          </p:cNvSpPr>
          <p:nvPr>
            <p:ph type="title"/>
          </p:nvPr>
        </p:nvSpPr>
        <p:spPr>
          <a:xfrm>
            <a:off x="1371599" y="5510253"/>
            <a:ext cx="9895951" cy="1033669"/>
          </a:xfrm>
        </p:spPr>
        <p:txBody>
          <a:bodyPr>
            <a:normAutofit/>
          </a:bodyPr>
          <a:lstStyle/>
          <a:p>
            <a:r>
              <a:rPr lang="tr-TR" sz="4000">
                <a:solidFill>
                  <a:srgbClr val="FFFFFF"/>
                </a:solidFill>
              </a:rPr>
              <a:t>Modellerin karşılaştırılmaları</a:t>
            </a:r>
            <a:endParaRPr lang="tr-TR" sz="4000">
              <a:solidFill>
                <a:srgbClr val="000000"/>
              </a:solidFill>
            </a:endParaRPr>
          </a:p>
          <a:p>
            <a:endParaRPr lang="tr-TR" sz="4000">
              <a:solidFill>
                <a:srgbClr val="FFFFFF"/>
              </a:solidFill>
            </a:endParaRPr>
          </a:p>
        </p:txBody>
      </p:sp>
      <p:pic>
        <p:nvPicPr>
          <p:cNvPr id="4" name="İçerik Yer Tutucusu 3" descr="metin, ekran görüntüsü, renklilik, diyagram içeren bir resim">
            <a:extLst>
              <a:ext uri="{FF2B5EF4-FFF2-40B4-BE49-F238E27FC236}">
                <a16:creationId xmlns:a16="http://schemas.microsoft.com/office/drawing/2014/main" id="{98390C67-6147-C619-E5EF-53F0D928F56F}"/>
              </a:ext>
            </a:extLst>
          </p:cNvPr>
          <p:cNvPicPr>
            <a:picLocks noChangeAspect="1"/>
          </p:cNvPicPr>
          <p:nvPr/>
        </p:nvPicPr>
        <p:blipFill>
          <a:blip r:embed="rId2"/>
          <a:stretch>
            <a:fillRect/>
          </a:stretch>
        </p:blipFill>
        <p:spPr>
          <a:xfrm>
            <a:off x="1867824" y="309643"/>
            <a:ext cx="8902399" cy="4488370"/>
          </a:xfrm>
          <a:prstGeom prst="rect">
            <a:avLst/>
          </a:prstGeom>
        </p:spPr>
      </p:pic>
      <p:sp>
        <p:nvSpPr>
          <p:cNvPr id="8" name="Content Placeholder 7">
            <a:extLst>
              <a:ext uri="{FF2B5EF4-FFF2-40B4-BE49-F238E27FC236}">
                <a16:creationId xmlns:a16="http://schemas.microsoft.com/office/drawing/2014/main" id="{BFF0C2E5-3BFB-785F-5AEA-A1BF8946C862}"/>
              </a:ext>
            </a:extLst>
          </p:cNvPr>
          <p:cNvSpPr>
            <a:spLocks noGrp="1"/>
          </p:cNvSpPr>
          <p:nvPr>
            <p:ph idx="1"/>
          </p:nvPr>
        </p:nvSpPr>
        <p:spPr>
          <a:xfrm>
            <a:off x="1940256" y="3833199"/>
            <a:ext cx="8332826" cy="1119982"/>
          </a:xfrm>
        </p:spPr>
        <p:txBody>
          <a:bodyPr anchor="ctr">
            <a:normAutofit/>
          </a:bodyPr>
          <a:lstStyle/>
          <a:p>
            <a:endParaRPr lang="en-US" sz="2000"/>
          </a:p>
        </p:txBody>
      </p:sp>
    </p:spTree>
    <p:extLst>
      <p:ext uri="{BB962C8B-B14F-4D97-AF65-F5344CB8AC3E}">
        <p14:creationId xmlns:p14="http://schemas.microsoft.com/office/powerpoint/2010/main" val="3872152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çerik Yer Tutucusu 3" descr="metin, çizgi, diyagram, paralel içeren bir resim&#10;&#10;Yapay zeka tarafından oluşturulmuş içerik yanlış olabilir.">
            <a:extLst>
              <a:ext uri="{FF2B5EF4-FFF2-40B4-BE49-F238E27FC236}">
                <a16:creationId xmlns:a16="http://schemas.microsoft.com/office/drawing/2014/main" id="{CFF85554-A12A-EB7D-8849-01E5E4DB2A58}"/>
              </a:ext>
            </a:extLst>
          </p:cNvPr>
          <p:cNvPicPr>
            <a:picLocks noChangeAspect="1"/>
          </p:cNvPicPr>
          <p:nvPr/>
        </p:nvPicPr>
        <p:blipFill>
          <a:blip r:embed="rId2"/>
          <a:stretch>
            <a:fillRect/>
          </a:stretch>
        </p:blipFill>
        <p:spPr>
          <a:xfrm>
            <a:off x="643467" y="1311113"/>
            <a:ext cx="5294716" cy="4235771"/>
          </a:xfrm>
          <a:prstGeom prst="rect">
            <a:avLst/>
          </a:prstGeom>
        </p:spPr>
      </p:pic>
      <p:cxnSp>
        <p:nvCxnSpPr>
          <p:cNvPr id="37" name="Straight Connector 36">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2" name="İçerik Yer Tutucusu 1" descr="metin, ekran görüntüsü, yazı tipi, sayı, numara içeren bir resim&#10;&#10;Yapay zeka tarafından oluşturulmuş içerik yanlış olabilir.">
            <a:extLst>
              <a:ext uri="{FF2B5EF4-FFF2-40B4-BE49-F238E27FC236}">
                <a16:creationId xmlns:a16="http://schemas.microsoft.com/office/drawing/2014/main" id="{354F0A33-BA35-89B8-293C-A7E013D86FA0}"/>
              </a:ext>
            </a:extLst>
          </p:cNvPr>
          <p:cNvPicPr>
            <a:picLocks noGrp="1" noChangeAspect="1"/>
          </p:cNvPicPr>
          <p:nvPr>
            <p:ph idx="1"/>
          </p:nvPr>
        </p:nvPicPr>
        <p:blipFill>
          <a:blip r:embed="rId3"/>
          <a:stretch>
            <a:fillRect/>
          </a:stretch>
        </p:blipFill>
        <p:spPr>
          <a:xfrm>
            <a:off x="6253817" y="1225075"/>
            <a:ext cx="5294715" cy="4407850"/>
          </a:xfrm>
          <a:prstGeom prst="rect">
            <a:avLst/>
          </a:prstGeom>
        </p:spPr>
      </p:pic>
    </p:spTree>
    <p:extLst>
      <p:ext uri="{BB962C8B-B14F-4D97-AF65-F5344CB8AC3E}">
        <p14:creationId xmlns:p14="http://schemas.microsoft.com/office/powerpoint/2010/main" val="1737308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4" name="Resim 3" descr="metin, ekran görüntüsü, yazı tipi, sayı, numara içeren bir resim&#10;&#10;Yapay zeka tarafından oluşturulmuş içerik yanlış olabilir.">
            <a:extLst>
              <a:ext uri="{FF2B5EF4-FFF2-40B4-BE49-F238E27FC236}">
                <a16:creationId xmlns:a16="http://schemas.microsoft.com/office/drawing/2014/main" id="{F696FDC0-ED45-CC8F-2121-FEE9C885F0DB}"/>
              </a:ext>
            </a:extLst>
          </p:cNvPr>
          <p:cNvPicPr>
            <a:picLocks noChangeAspect="1"/>
          </p:cNvPicPr>
          <p:nvPr/>
        </p:nvPicPr>
        <p:blipFill>
          <a:blip r:embed="rId2"/>
          <a:stretch>
            <a:fillRect/>
          </a:stretch>
        </p:blipFill>
        <p:spPr>
          <a:xfrm>
            <a:off x="706239" y="643466"/>
            <a:ext cx="3152748" cy="2624663"/>
          </a:xfrm>
          <a:prstGeom prst="rect">
            <a:avLst/>
          </a:prstGeom>
        </p:spPr>
      </p:pic>
      <p:pic>
        <p:nvPicPr>
          <p:cNvPr id="8" name="Resim 7" descr="metin, ekran görüntüsü, yazı tipi, diyagram içeren bir resim&#10;&#10;Yapay zeka tarafından oluşturulmuş içerik yanlış olabilir.">
            <a:extLst>
              <a:ext uri="{FF2B5EF4-FFF2-40B4-BE49-F238E27FC236}">
                <a16:creationId xmlns:a16="http://schemas.microsoft.com/office/drawing/2014/main" id="{8A01ACD0-F43D-AE11-D450-886D041F619D}"/>
              </a:ext>
            </a:extLst>
          </p:cNvPr>
          <p:cNvPicPr>
            <a:picLocks noChangeAspect="1"/>
          </p:cNvPicPr>
          <p:nvPr/>
        </p:nvPicPr>
        <p:blipFill>
          <a:blip r:embed="rId3"/>
          <a:stretch>
            <a:fillRect/>
          </a:stretch>
        </p:blipFill>
        <p:spPr>
          <a:xfrm>
            <a:off x="4243493" y="1870749"/>
            <a:ext cx="3743538" cy="3116495"/>
          </a:xfrm>
          <a:prstGeom prst="rect">
            <a:avLst/>
          </a:prstGeom>
        </p:spPr>
      </p:pic>
      <p:pic>
        <p:nvPicPr>
          <p:cNvPr id="5" name="Resim 4" descr="metin, ekran görüntüsü, yazı tipi, diyagram içeren bir resim&#10;&#10;Yapay zeka tarafından oluşturulmuş içerik yanlış olabilir.">
            <a:extLst>
              <a:ext uri="{FF2B5EF4-FFF2-40B4-BE49-F238E27FC236}">
                <a16:creationId xmlns:a16="http://schemas.microsoft.com/office/drawing/2014/main" id="{1CC98DAB-5037-04BF-0664-80F40292478E}"/>
              </a:ext>
            </a:extLst>
          </p:cNvPr>
          <p:cNvPicPr>
            <a:picLocks noChangeAspect="1"/>
          </p:cNvPicPr>
          <p:nvPr/>
        </p:nvPicPr>
        <p:blipFill>
          <a:blip r:embed="rId4"/>
          <a:stretch>
            <a:fillRect/>
          </a:stretch>
        </p:blipFill>
        <p:spPr>
          <a:xfrm>
            <a:off x="8352275" y="643466"/>
            <a:ext cx="3152747" cy="2624662"/>
          </a:xfrm>
          <a:prstGeom prst="rect">
            <a:avLst/>
          </a:prstGeom>
        </p:spPr>
      </p:pic>
      <p:pic>
        <p:nvPicPr>
          <p:cNvPr id="6" name="Resim 5" descr="metin, ekran görüntüsü, yazı tipi, sayı, numara içeren bir resim&#10;&#10;Yapay zeka tarafından oluşturulmuş içerik yanlış olabilir.">
            <a:extLst>
              <a:ext uri="{FF2B5EF4-FFF2-40B4-BE49-F238E27FC236}">
                <a16:creationId xmlns:a16="http://schemas.microsoft.com/office/drawing/2014/main" id="{8C07B454-2EAE-4B3E-8DF7-320B046F0ADD}"/>
              </a:ext>
            </a:extLst>
          </p:cNvPr>
          <p:cNvPicPr>
            <a:picLocks noChangeAspect="1"/>
          </p:cNvPicPr>
          <p:nvPr/>
        </p:nvPicPr>
        <p:blipFill>
          <a:blip r:embed="rId5"/>
          <a:stretch>
            <a:fillRect/>
          </a:stretch>
        </p:blipFill>
        <p:spPr>
          <a:xfrm>
            <a:off x="706238" y="3589863"/>
            <a:ext cx="3152750" cy="2624665"/>
          </a:xfrm>
          <a:prstGeom prst="rect">
            <a:avLst/>
          </a:prstGeom>
        </p:spPr>
      </p:pic>
      <p:pic>
        <p:nvPicPr>
          <p:cNvPr id="7" name="Resim 6" descr="metin, ekran görüntüsü, yazı tipi, diyagram içeren bir resim&#10;&#10;Yapay zeka tarafından oluşturulmuş içerik yanlış olabilir.">
            <a:extLst>
              <a:ext uri="{FF2B5EF4-FFF2-40B4-BE49-F238E27FC236}">
                <a16:creationId xmlns:a16="http://schemas.microsoft.com/office/drawing/2014/main" id="{3A153360-8691-09AB-CACE-BC250859F6C3}"/>
              </a:ext>
            </a:extLst>
          </p:cNvPr>
          <p:cNvPicPr>
            <a:picLocks noChangeAspect="1"/>
          </p:cNvPicPr>
          <p:nvPr/>
        </p:nvPicPr>
        <p:blipFill>
          <a:blip r:embed="rId6"/>
          <a:stretch>
            <a:fillRect/>
          </a:stretch>
        </p:blipFill>
        <p:spPr>
          <a:xfrm>
            <a:off x="8340664" y="3589863"/>
            <a:ext cx="3175966" cy="2643992"/>
          </a:xfrm>
          <a:prstGeom prst="rect">
            <a:avLst/>
          </a:prstGeom>
        </p:spPr>
      </p:pic>
    </p:spTree>
    <p:extLst>
      <p:ext uri="{BB962C8B-B14F-4D97-AF65-F5344CB8AC3E}">
        <p14:creationId xmlns:p14="http://schemas.microsoft.com/office/powerpoint/2010/main" val="3301937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450A46-A39B-051F-FA74-36B842439992}"/>
              </a:ext>
            </a:extLst>
          </p:cNvPr>
          <p:cNvSpPr>
            <a:spLocks noGrp="1"/>
          </p:cNvSpPr>
          <p:nvPr>
            <p:ph type="title"/>
          </p:nvPr>
        </p:nvSpPr>
        <p:spPr>
          <a:xfrm>
            <a:off x="466722" y="586855"/>
            <a:ext cx="3201366" cy="3387497"/>
          </a:xfrm>
        </p:spPr>
        <p:txBody>
          <a:bodyPr anchor="b">
            <a:normAutofit/>
          </a:bodyPr>
          <a:lstStyle/>
          <a:p>
            <a:pPr algn="r"/>
            <a:r>
              <a:rPr lang="tr-TR" sz="4000">
                <a:solidFill>
                  <a:srgbClr val="FFFFFF"/>
                </a:solidFill>
              </a:rPr>
              <a:t>Smote bilgileri</a:t>
            </a:r>
          </a:p>
        </p:txBody>
      </p:sp>
      <p:sp>
        <p:nvSpPr>
          <p:cNvPr id="3" name="İçerik Yer Tutucusu 2">
            <a:extLst>
              <a:ext uri="{FF2B5EF4-FFF2-40B4-BE49-F238E27FC236}">
                <a16:creationId xmlns:a16="http://schemas.microsoft.com/office/drawing/2014/main" id="{1ED820CF-E749-239A-D3FC-5FE112D20635}"/>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r>
              <a:rPr lang="tr-TR" sz="2000" b="1">
                <a:ea typeface="+mn-lt"/>
                <a:cs typeface="+mn-lt"/>
              </a:rPr>
              <a:t>   </a:t>
            </a:r>
            <a:r>
              <a:rPr lang="tr-TR" sz="3200" b="1">
                <a:ea typeface="+mn-lt"/>
                <a:cs typeface="+mn-lt"/>
              </a:rPr>
              <a:t>Eğitim seti:</a:t>
            </a:r>
          </a:p>
          <a:p>
            <a:pPr marL="0" indent="0"/>
            <a:r>
              <a:rPr lang="tr-TR" sz="2000" b="1">
                <a:ea typeface="+mn-lt"/>
                <a:cs typeface="+mn-lt"/>
              </a:rPr>
              <a:t>   SMOTE Öncesi:</a:t>
            </a:r>
            <a:r>
              <a:rPr lang="tr-TR" sz="2000">
                <a:ea typeface="+mn-lt"/>
                <a:cs typeface="+mn-lt"/>
              </a:rPr>
              <a:t> 0: 626 adet, 1: 29 adet</a:t>
            </a:r>
            <a:endParaRPr lang="tr-TR" sz="2000"/>
          </a:p>
          <a:p>
            <a:r>
              <a:rPr lang="tr-TR" sz="2000" b="1">
                <a:ea typeface="+mn-lt"/>
                <a:cs typeface="+mn-lt"/>
              </a:rPr>
              <a:t>SMOTE Sonrası:</a:t>
            </a:r>
            <a:r>
              <a:rPr lang="tr-TR" sz="2000">
                <a:ea typeface="+mn-lt"/>
                <a:cs typeface="+mn-lt"/>
              </a:rPr>
              <a:t> 0: 626 adet, 1: 626 adet (Dengelenmiş)</a:t>
            </a:r>
            <a:endParaRPr lang="tr-TR" sz="2000"/>
          </a:p>
          <a:p>
            <a:endParaRPr lang="tr-TR" sz="2000"/>
          </a:p>
        </p:txBody>
      </p:sp>
    </p:spTree>
    <p:extLst>
      <p:ext uri="{BB962C8B-B14F-4D97-AF65-F5344CB8AC3E}">
        <p14:creationId xmlns:p14="http://schemas.microsoft.com/office/powerpoint/2010/main" val="4008748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F25FE45-55F4-70E0-1385-71E9982F684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Smote ile veriler arttırılmıştır</a:t>
            </a:r>
          </a:p>
        </p:txBody>
      </p:sp>
      <p:graphicFrame>
        <p:nvGraphicFramePr>
          <p:cNvPr id="5" name="İçerik Yer Tutucusu 4">
            <a:extLst>
              <a:ext uri="{FF2B5EF4-FFF2-40B4-BE49-F238E27FC236}">
                <a16:creationId xmlns:a16="http://schemas.microsoft.com/office/drawing/2014/main" id="{ACDC953F-2D7E-99AF-0AA8-F7E91FDC05BE}"/>
              </a:ext>
            </a:extLst>
          </p:cNvPr>
          <p:cNvGraphicFramePr>
            <a:graphicFrameLocks noGrp="1"/>
          </p:cNvGraphicFramePr>
          <p:nvPr>
            <p:ph idx="1"/>
          </p:nvPr>
        </p:nvGraphicFramePr>
        <p:xfrm>
          <a:off x="432225" y="2257694"/>
          <a:ext cx="11327552" cy="3869362"/>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2745354">
                  <a:extLst>
                    <a:ext uri="{9D8B030D-6E8A-4147-A177-3AD203B41FA5}">
                      <a16:colId xmlns:a16="http://schemas.microsoft.com/office/drawing/2014/main" val="1063047673"/>
                    </a:ext>
                  </a:extLst>
                </a:gridCol>
                <a:gridCol w="1814811">
                  <a:extLst>
                    <a:ext uri="{9D8B030D-6E8A-4147-A177-3AD203B41FA5}">
                      <a16:colId xmlns:a16="http://schemas.microsoft.com/office/drawing/2014/main" val="243020293"/>
                    </a:ext>
                  </a:extLst>
                </a:gridCol>
                <a:gridCol w="1825446">
                  <a:extLst>
                    <a:ext uri="{9D8B030D-6E8A-4147-A177-3AD203B41FA5}">
                      <a16:colId xmlns:a16="http://schemas.microsoft.com/office/drawing/2014/main" val="1739868314"/>
                    </a:ext>
                  </a:extLst>
                </a:gridCol>
                <a:gridCol w="1378785">
                  <a:extLst>
                    <a:ext uri="{9D8B030D-6E8A-4147-A177-3AD203B41FA5}">
                      <a16:colId xmlns:a16="http://schemas.microsoft.com/office/drawing/2014/main" val="1366548462"/>
                    </a:ext>
                  </a:extLst>
                </a:gridCol>
                <a:gridCol w="1729733">
                  <a:extLst>
                    <a:ext uri="{9D8B030D-6E8A-4147-A177-3AD203B41FA5}">
                      <a16:colId xmlns:a16="http://schemas.microsoft.com/office/drawing/2014/main" val="2532285113"/>
                    </a:ext>
                  </a:extLst>
                </a:gridCol>
                <a:gridCol w="1833423">
                  <a:extLst>
                    <a:ext uri="{9D8B030D-6E8A-4147-A177-3AD203B41FA5}">
                      <a16:colId xmlns:a16="http://schemas.microsoft.com/office/drawing/2014/main" val="691650830"/>
                    </a:ext>
                  </a:extLst>
                </a:gridCol>
              </a:tblGrid>
              <a:tr h="729972">
                <a:tc>
                  <a:txBody>
                    <a:bodyPr/>
                    <a:lstStyle/>
                    <a:p>
                      <a:pPr rtl="0">
                        <a:buNone/>
                      </a:pPr>
                      <a:r>
                        <a:rPr lang="tr-TR" sz="2700" b="1" cap="none" spc="0">
                          <a:solidFill>
                            <a:schemeClr val="bg1"/>
                          </a:solidFill>
                          <a:effectLst/>
                          <a:latin typeface="Google Sans Text"/>
                        </a:rPr>
                        <a:t>Model</a:t>
                      </a:r>
                    </a:p>
                  </a:txBody>
                  <a:tcPr marL="107199" marR="242140" marT="30628" marB="229711"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700" b="1" cap="none" spc="0">
                          <a:solidFill>
                            <a:schemeClr val="bg1"/>
                          </a:solidFill>
                          <a:effectLst/>
                          <a:latin typeface="Google Sans Text"/>
                        </a:rPr>
                        <a:t>Accuracy</a:t>
                      </a:r>
                    </a:p>
                  </a:txBody>
                  <a:tcPr marL="107199" marR="242140" marT="30628" marB="229711"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700" b="1" cap="none" spc="0">
                          <a:solidFill>
                            <a:schemeClr val="bg1"/>
                          </a:solidFill>
                          <a:effectLst/>
                          <a:latin typeface="Google Sans Text"/>
                        </a:rPr>
                        <a:t>Precision</a:t>
                      </a:r>
                    </a:p>
                  </a:txBody>
                  <a:tcPr marL="107199" marR="242140" marT="30628" marB="229711"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700" b="1" cap="none" spc="0">
                          <a:solidFill>
                            <a:schemeClr val="bg1"/>
                          </a:solidFill>
                          <a:effectLst/>
                          <a:latin typeface="Google Sans Text"/>
                        </a:rPr>
                        <a:t>Recall</a:t>
                      </a:r>
                    </a:p>
                  </a:txBody>
                  <a:tcPr marL="107199" marR="242140" marT="30628" marB="229711"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700" b="1" cap="none" spc="0">
                          <a:solidFill>
                            <a:schemeClr val="bg1"/>
                          </a:solidFill>
                          <a:effectLst/>
                          <a:latin typeface="Google Sans Text"/>
                        </a:rPr>
                        <a:t>F1 Score</a:t>
                      </a:r>
                    </a:p>
                  </a:txBody>
                  <a:tcPr marL="107199" marR="242140" marT="30628" marB="229711"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rtl="0">
                        <a:buNone/>
                      </a:pPr>
                      <a:r>
                        <a:rPr lang="tr-TR" sz="2700" b="1" cap="none" spc="0">
                          <a:solidFill>
                            <a:schemeClr val="bg1"/>
                          </a:solidFill>
                          <a:effectLst/>
                          <a:latin typeface="Google Sans Text"/>
                        </a:rPr>
                        <a:t>ROC AUC</a:t>
                      </a:r>
                    </a:p>
                  </a:txBody>
                  <a:tcPr marL="107199" marR="242140" marT="30628" marB="229711" anchor="b">
                    <a:lnL w="12700" cmpd="sng">
                      <a:noFill/>
                    </a:lnL>
                    <a:lnR w="12700" cmpd="sng">
                      <a:noFill/>
                    </a:lnR>
                    <a:lnT w="9525" cap="flat" cmpd="sng" algn="ctr">
                      <a:noFill/>
                      <a:prstDash val="solid"/>
                    </a:lnT>
                    <a:lnB w="38100" cmpd="sng">
                      <a:noFill/>
                    </a:lnB>
                    <a:solidFill>
                      <a:schemeClr val="tx1">
                        <a:lumMod val="75000"/>
                        <a:lumOff val="25000"/>
                      </a:schemeClr>
                    </a:solidFill>
                  </a:tcPr>
                </a:tc>
                <a:extLst>
                  <a:ext uri="{0D108BD9-81ED-4DB2-BD59-A6C34878D82A}">
                    <a16:rowId xmlns:a16="http://schemas.microsoft.com/office/drawing/2014/main" val="2738395207"/>
                  </a:ext>
                </a:extLst>
              </a:tr>
              <a:tr h="627878">
                <a:tc>
                  <a:txBody>
                    <a:bodyPr/>
                    <a:lstStyle/>
                    <a:p>
                      <a:pPr rtl="0">
                        <a:buNone/>
                      </a:pPr>
                      <a:r>
                        <a:rPr lang="tr-TR" sz="2000" b="1" cap="none" spc="0">
                          <a:solidFill>
                            <a:schemeClr val="bg1"/>
                          </a:solidFill>
                          <a:effectLst/>
                          <a:latin typeface="Google Sans Text"/>
                        </a:rPr>
                        <a:t>SVM</a:t>
                      </a:r>
                      <a:endParaRPr lang="tr-TR" sz="2000" cap="none" spc="0">
                        <a:solidFill>
                          <a:schemeClr val="bg1"/>
                        </a:solidFill>
                        <a:effectLst/>
                        <a:latin typeface="Google Sans Text"/>
                      </a:endParaRPr>
                    </a:p>
                  </a:txBody>
                  <a:tcPr marL="107199" marR="242140" marT="30628" marB="229711" anchor="ctr">
                    <a:lnL w="12700" cap="flat" cmpd="sng" algn="ctr">
                      <a:solidFill>
                        <a:schemeClr val="bg1"/>
                      </a:solid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0.947</a:t>
                      </a:r>
                    </a:p>
                  </a:txBody>
                  <a:tcPr marL="107199" marR="242140" marT="30628" marB="229711"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0.400</a:t>
                      </a:r>
                    </a:p>
                  </a:txBody>
                  <a:tcPr marL="107199" marR="242140" marT="30628" marB="229711"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0.500</a:t>
                      </a:r>
                    </a:p>
                  </a:txBody>
                  <a:tcPr marL="107199" marR="242140" marT="30628" marB="229711"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0.444</a:t>
                      </a:r>
                    </a:p>
                  </a:txBody>
                  <a:tcPr marL="107199" marR="242140" marT="30628" marB="229711"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0.905</a:t>
                      </a:r>
                    </a:p>
                  </a:txBody>
                  <a:tcPr marL="107199" marR="242140" marT="30628" marB="229711"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927415143"/>
                  </a:ext>
                </a:extLst>
              </a:tr>
              <a:tr h="627878">
                <a:tc>
                  <a:txBody>
                    <a:bodyPr/>
                    <a:lstStyle/>
                    <a:p>
                      <a:pPr rtl="0">
                        <a:buNone/>
                      </a:pPr>
                      <a:r>
                        <a:rPr lang="tr-TR" sz="2000" b="1" cap="none" spc="0">
                          <a:solidFill>
                            <a:schemeClr val="bg1"/>
                          </a:solidFill>
                          <a:effectLst/>
                          <a:latin typeface="Google Sans Text"/>
                        </a:rPr>
                        <a:t>KNN</a:t>
                      </a:r>
                      <a:endParaRPr lang="tr-TR" sz="2000" cap="none" spc="0">
                        <a:solidFill>
                          <a:schemeClr val="bg1"/>
                        </a:solidFill>
                        <a:effectLst/>
                        <a:latin typeface="Google Sans Text"/>
                      </a:endParaRPr>
                    </a:p>
                  </a:txBody>
                  <a:tcPr marL="107199" marR="242140" marT="30628" marB="229711"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0.922</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0.273</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0.500</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0.353</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0.799</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4292867841"/>
                  </a:ext>
                </a:extLst>
              </a:tr>
              <a:tr h="627878">
                <a:tc>
                  <a:txBody>
                    <a:bodyPr/>
                    <a:lstStyle/>
                    <a:p>
                      <a:pPr rtl="0">
                        <a:buNone/>
                      </a:pPr>
                      <a:r>
                        <a:rPr lang="tr-TR" sz="2000" b="1" cap="none" spc="0">
                          <a:solidFill>
                            <a:schemeClr val="bg1"/>
                          </a:solidFill>
                          <a:effectLst/>
                          <a:latin typeface="Google Sans Text"/>
                        </a:rPr>
                        <a:t>Decision Tree</a:t>
                      </a:r>
                      <a:endParaRPr lang="tr-TR" sz="2000" cap="none" spc="0">
                        <a:solidFill>
                          <a:schemeClr val="bg1"/>
                        </a:solidFill>
                        <a:effectLst/>
                        <a:latin typeface="Google Sans Text"/>
                      </a:endParaRPr>
                    </a:p>
                  </a:txBody>
                  <a:tcPr marL="107199" marR="242140" marT="30628" marB="229711"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0.926</a:t>
                      </a:r>
                    </a:p>
                  </a:txBody>
                  <a:tcPr marL="107199" marR="242140" marT="30628" marB="229711"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0.200</a:t>
                      </a:r>
                    </a:p>
                  </a:txBody>
                  <a:tcPr marL="107199" marR="242140" marT="30628" marB="229711"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0.250</a:t>
                      </a:r>
                    </a:p>
                  </a:txBody>
                  <a:tcPr marL="107199" marR="242140" marT="30628" marB="229711"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0.222</a:t>
                      </a:r>
                    </a:p>
                  </a:txBody>
                  <a:tcPr marL="107199" marR="242140" marT="30628" marB="229711"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0.603</a:t>
                      </a:r>
                    </a:p>
                  </a:txBody>
                  <a:tcPr marL="107199" marR="242140" marT="30628" marB="229711"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640740899"/>
                  </a:ext>
                </a:extLst>
              </a:tr>
              <a:tr h="627878">
                <a:tc>
                  <a:txBody>
                    <a:bodyPr/>
                    <a:lstStyle/>
                    <a:p>
                      <a:pPr rtl="0">
                        <a:buNone/>
                      </a:pPr>
                      <a:r>
                        <a:rPr lang="tr-TR" sz="2000" b="1" cap="none" spc="0">
                          <a:solidFill>
                            <a:schemeClr val="bg1"/>
                          </a:solidFill>
                          <a:effectLst/>
                          <a:latin typeface="Google Sans Text"/>
                        </a:rPr>
                        <a:t>MLP Neural Network</a:t>
                      </a:r>
                      <a:endParaRPr lang="tr-TR" sz="2000" cap="none" spc="0">
                        <a:solidFill>
                          <a:schemeClr val="bg1"/>
                        </a:solidFill>
                        <a:effectLst/>
                        <a:latin typeface="Google Sans Text"/>
                      </a:endParaRPr>
                    </a:p>
                  </a:txBody>
                  <a:tcPr marL="107199" marR="242140" marT="30628" marB="229711"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0.933</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0.316</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0.500</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0.387</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rtl="0">
                        <a:buNone/>
                      </a:pPr>
                      <a:r>
                        <a:rPr lang="tr-TR" sz="2000" cap="none" spc="0">
                          <a:solidFill>
                            <a:schemeClr val="bg1"/>
                          </a:solidFill>
                          <a:effectLst/>
                          <a:latin typeface="Google Sans Text"/>
                        </a:rPr>
                        <a:t>0.827</a:t>
                      </a:r>
                    </a:p>
                  </a:txBody>
                  <a:tcPr marL="107199" marR="242140" marT="30628" marB="229711"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1842836661"/>
                  </a:ext>
                </a:extLst>
              </a:tr>
              <a:tr h="627878">
                <a:tc>
                  <a:txBody>
                    <a:bodyPr/>
                    <a:lstStyle/>
                    <a:p>
                      <a:pPr rtl="0">
                        <a:buNone/>
                      </a:pPr>
                      <a:r>
                        <a:rPr lang="tr-TR" sz="2000" b="1" cap="none" spc="0">
                          <a:solidFill>
                            <a:schemeClr val="bg1"/>
                          </a:solidFill>
                          <a:effectLst/>
                          <a:latin typeface="Google Sans Text"/>
                        </a:rPr>
                        <a:t>Random Forest</a:t>
                      </a:r>
                      <a:endParaRPr lang="tr-TR" sz="2000" cap="none" spc="0">
                        <a:solidFill>
                          <a:schemeClr val="bg1"/>
                        </a:solidFill>
                        <a:effectLst/>
                        <a:latin typeface="Google Sans Text"/>
                      </a:endParaRPr>
                    </a:p>
                  </a:txBody>
                  <a:tcPr marL="107199" marR="242140" marT="30628" marB="229711"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0.965</a:t>
                      </a:r>
                    </a:p>
                  </a:txBody>
                  <a:tcPr marL="107199" marR="242140" marT="30628" marB="229711"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0.625</a:t>
                      </a:r>
                    </a:p>
                  </a:txBody>
                  <a:tcPr marL="107199" marR="242140" marT="30628" marB="229711"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0.417</a:t>
                      </a:r>
                    </a:p>
                  </a:txBody>
                  <a:tcPr marL="107199" marR="242140" marT="30628" marB="229711"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0.500</a:t>
                      </a:r>
                    </a:p>
                  </a:txBody>
                  <a:tcPr marL="107199" marR="242140" marT="30628" marB="229711"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pPr rtl="0">
                        <a:buNone/>
                      </a:pPr>
                      <a:r>
                        <a:rPr lang="tr-TR" sz="2000" cap="none" spc="0">
                          <a:solidFill>
                            <a:schemeClr val="bg1"/>
                          </a:solidFill>
                          <a:effectLst/>
                          <a:latin typeface="Google Sans Text"/>
                        </a:rPr>
                        <a:t>0.936</a:t>
                      </a:r>
                    </a:p>
                  </a:txBody>
                  <a:tcPr marL="107199" marR="242140" marT="30628" marB="229711"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1891842126"/>
                  </a:ext>
                </a:extLst>
              </a:tr>
            </a:tbl>
          </a:graphicData>
        </a:graphic>
      </p:graphicFrame>
    </p:spTree>
    <p:extLst>
      <p:ext uri="{BB962C8B-B14F-4D97-AF65-F5344CB8AC3E}">
        <p14:creationId xmlns:p14="http://schemas.microsoft.com/office/powerpoint/2010/main" val="1895202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068E096-08A5-6D77-D60A-B2FB71E2A382}"/>
              </a:ext>
            </a:extLst>
          </p:cNvPr>
          <p:cNvSpPr>
            <a:spLocks noGrp="1"/>
          </p:cNvSpPr>
          <p:nvPr>
            <p:ph type="title"/>
          </p:nvPr>
        </p:nvSpPr>
        <p:spPr>
          <a:xfrm>
            <a:off x="1371599" y="5510253"/>
            <a:ext cx="9895951" cy="1033669"/>
          </a:xfrm>
        </p:spPr>
        <p:txBody>
          <a:bodyPr>
            <a:normAutofit/>
          </a:bodyPr>
          <a:lstStyle/>
          <a:p>
            <a:r>
              <a:rPr lang="tr-TR" sz="4000">
                <a:solidFill>
                  <a:srgbClr val="FFFFFF"/>
                </a:solidFill>
              </a:rPr>
              <a:t>Modellerin karşılaştırılmaları</a:t>
            </a:r>
            <a:endParaRPr lang="tr-TR" sz="4000">
              <a:solidFill>
                <a:srgbClr val="000000"/>
              </a:solidFill>
            </a:endParaRPr>
          </a:p>
          <a:p>
            <a:endParaRPr lang="tr-TR" sz="4000">
              <a:solidFill>
                <a:srgbClr val="FFFFFF"/>
              </a:solidFill>
            </a:endParaRPr>
          </a:p>
        </p:txBody>
      </p:sp>
      <p:pic>
        <p:nvPicPr>
          <p:cNvPr id="4" name="İçerik Yer Tutucusu 3" descr="metin, ekran görüntüsü, renklilik, diyagram içeren bir resim&#10;&#10;Yapay zeka tarafından oluşturulmuş içerik yanlış olabilir.">
            <a:extLst>
              <a:ext uri="{FF2B5EF4-FFF2-40B4-BE49-F238E27FC236}">
                <a16:creationId xmlns:a16="http://schemas.microsoft.com/office/drawing/2014/main" id="{29435101-4FA7-00CA-8EDC-18717E72B6F2}"/>
              </a:ext>
            </a:extLst>
          </p:cNvPr>
          <p:cNvPicPr>
            <a:picLocks noChangeAspect="1"/>
          </p:cNvPicPr>
          <p:nvPr/>
        </p:nvPicPr>
        <p:blipFill>
          <a:blip r:embed="rId2"/>
          <a:stretch>
            <a:fillRect/>
          </a:stretch>
        </p:blipFill>
        <p:spPr>
          <a:xfrm>
            <a:off x="1326246" y="229850"/>
            <a:ext cx="9519186" cy="4739273"/>
          </a:xfrm>
          <a:prstGeom prst="rect">
            <a:avLst/>
          </a:prstGeom>
        </p:spPr>
      </p:pic>
      <p:sp>
        <p:nvSpPr>
          <p:cNvPr id="8" name="Content Placeholder 7">
            <a:extLst>
              <a:ext uri="{FF2B5EF4-FFF2-40B4-BE49-F238E27FC236}">
                <a16:creationId xmlns:a16="http://schemas.microsoft.com/office/drawing/2014/main" id="{C0091DA5-D2B8-7860-E8B0-3A46C8C71973}"/>
              </a:ext>
            </a:extLst>
          </p:cNvPr>
          <p:cNvSpPr>
            <a:spLocks noGrp="1"/>
          </p:cNvSpPr>
          <p:nvPr>
            <p:ph idx="1"/>
          </p:nvPr>
        </p:nvSpPr>
        <p:spPr>
          <a:xfrm>
            <a:off x="1940256" y="3833199"/>
            <a:ext cx="8332826" cy="1119982"/>
          </a:xfrm>
        </p:spPr>
        <p:txBody>
          <a:bodyPr anchor="ctr">
            <a:normAutofit/>
          </a:bodyPr>
          <a:lstStyle/>
          <a:p>
            <a:endParaRPr lang="en-US" sz="2000"/>
          </a:p>
        </p:txBody>
      </p:sp>
    </p:spTree>
    <p:extLst>
      <p:ext uri="{BB962C8B-B14F-4D97-AF65-F5344CB8AC3E}">
        <p14:creationId xmlns:p14="http://schemas.microsoft.com/office/powerpoint/2010/main" val="3922563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çerik Yer Tutucusu 3" descr="metin, çizgi, diyagram, paralel içeren bir resim&#10;&#10;Yapay zeka tarafından oluşturulmuş içerik yanlış olabilir.">
            <a:extLst>
              <a:ext uri="{FF2B5EF4-FFF2-40B4-BE49-F238E27FC236}">
                <a16:creationId xmlns:a16="http://schemas.microsoft.com/office/drawing/2014/main" id="{40BCE485-5AA0-61DC-B4F6-E42A6CC0EBE1}"/>
              </a:ext>
            </a:extLst>
          </p:cNvPr>
          <p:cNvPicPr>
            <a:picLocks noChangeAspect="1"/>
          </p:cNvPicPr>
          <p:nvPr/>
        </p:nvPicPr>
        <p:blipFill>
          <a:blip r:embed="rId2"/>
          <a:srcRect r="2211" b="-2"/>
          <a:stretch>
            <a:fillRect/>
          </a:stretch>
        </p:blipFill>
        <p:spPr>
          <a:xfrm>
            <a:off x="643467" y="1263185"/>
            <a:ext cx="5294716" cy="4331627"/>
          </a:xfrm>
          <a:prstGeom prst="rect">
            <a:avLst/>
          </a:prstGeom>
        </p:spPr>
      </p:pic>
      <p:cxnSp>
        <p:nvCxnSpPr>
          <p:cNvPr id="58" name="Straight Connector 57">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2" name="Resim 1" descr="metin, ekran görüntüsü, yazı tipi, diyagram içeren bir resim&#10;&#10;Yapay zeka tarafından oluşturulmuş içerik yanlış olabilir.">
            <a:extLst>
              <a:ext uri="{FF2B5EF4-FFF2-40B4-BE49-F238E27FC236}">
                <a16:creationId xmlns:a16="http://schemas.microsoft.com/office/drawing/2014/main" id="{C66026C6-F54A-C835-EBBC-C3D816D7833C}"/>
              </a:ext>
            </a:extLst>
          </p:cNvPr>
          <p:cNvPicPr>
            <a:picLocks noChangeAspect="1"/>
          </p:cNvPicPr>
          <p:nvPr/>
        </p:nvPicPr>
        <p:blipFill>
          <a:blip r:embed="rId3"/>
          <a:stretch>
            <a:fillRect/>
          </a:stretch>
        </p:blipFill>
        <p:spPr>
          <a:xfrm>
            <a:off x="6253817" y="1225075"/>
            <a:ext cx="5294715" cy="4407850"/>
          </a:xfrm>
          <a:prstGeom prst="rect">
            <a:avLst/>
          </a:prstGeom>
        </p:spPr>
      </p:pic>
    </p:spTree>
    <p:extLst>
      <p:ext uri="{BB962C8B-B14F-4D97-AF65-F5344CB8AC3E}">
        <p14:creationId xmlns:p14="http://schemas.microsoft.com/office/powerpoint/2010/main" val="46753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6" name="Resim 5" descr="metin, ekran görüntüsü, yazı tipi, sayı, numara içeren bir resim&#10;&#10;Yapay zeka tarafından oluşturulmuş içerik yanlış olabilir.">
            <a:extLst>
              <a:ext uri="{FF2B5EF4-FFF2-40B4-BE49-F238E27FC236}">
                <a16:creationId xmlns:a16="http://schemas.microsoft.com/office/drawing/2014/main" id="{B6EC987C-CE40-8E58-FEC8-FDF961388685}"/>
              </a:ext>
            </a:extLst>
          </p:cNvPr>
          <p:cNvPicPr>
            <a:picLocks noChangeAspect="1"/>
          </p:cNvPicPr>
          <p:nvPr/>
        </p:nvPicPr>
        <p:blipFill>
          <a:blip r:embed="rId2"/>
          <a:stretch>
            <a:fillRect/>
          </a:stretch>
        </p:blipFill>
        <p:spPr>
          <a:xfrm>
            <a:off x="706239" y="643466"/>
            <a:ext cx="3152748" cy="2624663"/>
          </a:xfrm>
          <a:prstGeom prst="rect">
            <a:avLst/>
          </a:prstGeom>
        </p:spPr>
      </p:pic>
      <p:pic>
        <p:nvPicPr>
          <p:cNvPr id="7" name="Resim 6" descr="metin, ekran görüntüsü, yazı tipi, sayı, numara içeren bir resim&#10;&#10;Yapay zeka tarafından oluşturulmuş içerik yanlış olabilir.">
            <a:extLst>
              <a:ext uri="{FF2B5EF4-FFF2-40B4-BE49-F238E27FC236}">
                <a16:creationId xmlns:a16="http://schemas.microsoft.com/office/drawing/2014/main" id="{5186C850-5E0E-CA17-8A32-1E5E161A10BD}"/>
              </a:ext>
            </a:extLst>
          </p:cNvPr>
          <p:cNvPicPr>
            <a:picLocks noChangeAspect="1"/>
          </p:cNvPicPr>
          <p:nvPr/>
        </p:nvPicPr>
        <p:blipFill>
          <a:blip r:embed="rId3"/>
          <a:stretch>
            <a:fillRect/>
          </a:stretch>
        </p:blipFill>
        <p:spPr>
          <a:xfrm>
            <a:off x="4243493" y="1870749"/>
            <a:ext cx="3743538" cy="3116495"/>
          </a:xfrm>
          <a:prstGeom prst="rect">
            <a:avLst/>
          </a:prstGeom>
        </p:spPr>
      </p:pic>
      <p:pic>
        <p:nvPicPr>
          <p:cNvPr id="5" name="Resim 4" descr="metin, ekran görüntüsü, yazı tipi, sayı, numara içeren bir resim&#10;&#10;Yapay zeka tarafından oluşturulmuş içerik yanlış olabilir.">
            <a:extLst>
              <a:ext uri="{FF2B5EF4-FFF2-40B4-BE49-F238E27FC236}">
                <a16:creationId xmlns:a16="http://schemas.microsoft.com/office/drawing/2014/main" id="{63B3A6A7-7906-F7D6-649D-A867AB0EE5FA}"/>
              </a:ext>
            </a:extLst>
          </p:cNvPr>
          <p:cNvPicPr>
            <a:picLocks noChangeAspect="1"/>
          </p:cNvPicPr>
          <p:nvPr/>
        </p:nvPicPr>
        <p:blipFill>
          <a:blip r:embed="rId4"/>
          <a:stretch>
            <a:fillRect/>
          </a:stretch>
        </p:blipFill>
        <p:spPr>
          <a:xfrm>
            <a:off x="8352275" y="643466"/>
            <a:ext cx="3152747" cy="2624662"/>
          </a:xfrm>
          <a:prstGeom prst="rect">
            <a:avLst/>
          </a:prstGeom>
        </p:spPr>
      </p:pic>
      <p:pic>
        <p:nvPicPr>
          <p:cNvPr id="8" name="Resim 7" descr="metin, ekran görüntüsü, yazı tipi, diyagram içeren bir resim&#10;&#10;Yapay zeka tarafından oluşturulmuş içerik yanlış olabilir.">
            <a:extLst>
              <a:ext uri="{FF2B5EF4-FFF2-40B4-BE49-F238E27FC236}">
                <a16:creationId xmlns:a16="http://schemas.microsoft.com/office/drawing/2014/main" id="{1CF85B77-125F-21EF-6413-DE96FC53FACB}"/>
              </a:ext>
            </a:extLst>
          </p:cNvPr>
          <p:cNvPicPr>
            <a:picLocks noChangeAspect="1"/>
          </p:cNvPicPr>
          <p:nvPr/>
        </p:nvPicPr>
        <p:blipFill>
          <a:blip r:embed="rId5"/>
          <a:stretch>
            <a:fillRect/>
          </a:stretch>
        </p:blipFill>
        <p:spPr>
          <a:xfrm>
            <a:off x="706238" y="3589863"/>
            <a:ext cx="3152750" cy="2624665"/>
          </a:xfrm>
          <a:prstGeom prst="rect">
            <a:avLst/>
          </a:prstGeom>
        </p:spPr>
      </p:pic>
      <p:pic>
        <p:nvPicPr>
          <p:cNvPr id="4" name="Resim 3" descr="metin, ekran görüntüsü, yazı tipi, sayı, numara içeren bir resim&#10;&#10;Yapay zeka tarafından oluşturulmuş içerik yanlış olabilir.">
            <a:extLst>
              <a:ext uri="{FF2B5EF4-FFF2-40B4-BE49-F238E27FC236}">
                <a16:creationId xmlns:a16="http://schemas.microsoft.com/office/drawing/2014/main" id="{DA294B72-6672-190C-56BE-6FD515E31DBD}"/>
              </a:ext>
            </a:extLst>
          </p:cNvPr>
          <p:cNvPicPr>
            <a:picLocks noChangeAspect="1"/>
          </p:cNvPicPr>
          <p:nvPr/>
        </p:nvPicPr>
        <p:blipFill>
          <a:blip r:embed="rId6"/>
          <a:stretch>
            <a:fillRect/>
          </a:stretch>
        </p:blipFill>
        <p:spPr>
          <a:xfrm>
            <a:off x="8340664" y="3589863"/>
            <a:ext cx="3175966" cy="2643992"/>
          </a:xfrm>
          <a:prstGeom prst="rect">
            <a:avLst/>
          </a:prstGeom>
        </p:spPr>
      </p:pic>
    </p:spTree>
    <p:extLst>
      <p:ext uri="{BB962C8B-B14F-4D97-AF65-F5344CB8AC3E}">
        <p14:creationId xmlns:p14="http://schemas.microsoft.com/office/powerpoint/2010/main" val="2505036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4EEE979-5E27-BD0B-72CD-2D12EBE67F25}"/>
              </a:ext>
            </a:extLst>
          </p:cNvPr>
          <p:cNvSpPr>
            <a:spLocks noGrp="1"/>
          </p:cNvSpPr>
          <p:nvPr>
            <p:ph type="title"/>
          </p:nvPr>
        </p:nvSpPr>
        <p:spPr>
          <a:xfrm>
            <a:off x="1371597" y="348865"/>
            <a:ext cx="10044023" cy="877729"/>
          </a:xfrm>
        </p:spPr>
        <p:txBody>
          <a:bodyPr anchor="ctr">
            <a:normAutofit/>
          </a:bodyPr>
          <a:lstStyle/>
          <a:p>
            <a:r>
              <a:rPr lang="tr-TR" sz="3400">
                <a:solidFill>
                  <a:srgbClr val="FFFFFF"/>
                </a:solidFill>
              </a:rPr>
              <a:t>Smote ile veriler arttırılmış ve random forest uygulanmış</a:t>
            </a:r>
          </a:p>
        </p:txBody>
      </p:sp>
      <p:graphicFrame>
        <p:nvGraphicFramePr>
          <p:cNvPr id="5" name="İçerik Yer Tutucusu 4">
            <a:extLst>
              <a:ext uri="{FF2B5EF4-FFF2-40B4-BE49-F238E27FC236}">
                <a16:creationId xmlns:a16="http://schemas.microsoft.com/office/drawing/2014/main" id="{129ED5D5-2AB1-082F-4C44-6A867A3D51D0}"/>
              </a:ext>
            </a:extLst>
          </p:cNvPr>
          <p:cNvGraphicFramePr>
            <a:graphicFrameLocks noGrp="1"/>
          </p:cNvGraphicFramePr>
          <p:nvPr>
            <p:ph idx="1"/>
          </p:nvPr>
        </p:nvGraphicFramePr>
        <p:xfrm>
          <a:off x="644056" y="2380315"/>
          <a:ext cx="10927832" cy="3657334"/>
        </p:xfrm>
        <a:graphic>
          <a:graphicData uri="http://schemas.openxmlformats.org/drawingml/2006/table">
            <a:tbl>
              <a:tblPr firstRow="1" bandRow="1">
                <a:solidFill>
                  <a:schemeClr val="tx1">
                    <a:lumMod val="65000"/>
                    <a:lumOff val="35000"/>
                  </a:schemeClr>
                </a:solidFill>
                <a:tableStyleId>{5C22544A-7EE6-4342-B048-85BDC9FD1C3A}</a:tableStyleId>
              </a:tblPr>
              <a:tblGrid>
                <a:gridCol w="2432210">
                  <a:extLst>
                    <a:ext uri="{9D8B030D-6E8A-4147-A177-3AD203B41FA5}">
                      <a16:colId xmlns:a16="http://schemas.microsoft.com/office/drawing/2014/main" val="1140017071"/>
                    </a:ext>
                  </a:extLst>
                </a:gridCol>
                <a:gridCol w="1792781">
                  <a:extLst>
                    <a:ext uri="{9D8B030D-6E8A-4147-A177-3AD203B41FA5}">
                      <a16:colId xmlns:a16="http://schemas.microsoft.com/office/drawing/2014/main" val="1983034839"/>
                    </a:ext>
                  </a:extLst>
                </a:gridCol>
                <a:gridCol w="1809419">
                  <a:extLst>
                    <a:ext uri="{9D8B030D-6E8A-4147-A177-3AD203B41FA5}">
                      <a16:colId xmlns:a16="http://schemas.microsoft.com/office/drawing/2014/main" val="1885756690"/>
                    </a:ext>
                  </a:extLst>
                </a:gridCol>
                <a:gridCol w="1364910">
                  <a:extLst>
                    <a:ext uri="{9D8B030D-6E8A-4147-A177-3AD203B41FA5}">
                      <a16:colId xmlns:a16="http://schemas.microsoft.com/office/drawing/2014/main" val="3988251797"/>
                    </a:ext>
                  </a:extLst>
                </a:gridCol>
                <a:gridCol w="1711961">
                  <a:extLst>
                    <a:ext uri="{9D8B030D-6E8A-4147-A177-3AD203B41FA5}">
                      <a16:colId xmlns:a16="http://schemas.microsoft.com/office/drawing/2014/main" val="2757603573"/>
                    </a:ext>
                  </a:extLst>
                </a:gridCol>
                <a:gridCol w="1816551">
                  <a:extLst>
                    <a:ext uri="{9D8B030D-6E8A-4147-A177-3AD203B41FA5}">
                      <a16:colId xmlns:a16="http://schemas.microsoft.com/office/drawing/2014/main" val="61262581"/>
                    </a:ext>
                  </a:extLst>
                </a:gridCol>
              </a:tblGrid>
              <a:tr h="586935">
                <a:tc>
                  <a:txBody>
                    <a:bodyPr/>
                    <a:lstStyle/>
                    <a:p>
                      <a:pPr rtl="0">
                        <a:buNone/>
                      </a:pPr>
                      <a:r>
                        <a:rPr lang="tr-TR" sz="1400" b="1" cap="all" spc="60">
                          <a:solidFill>
                            <a:schemeClr val="tx1"/>
                          </a:solidFill>
                          <a:effectLst/>
                          <a:latin typeface="Google Sans Text"/>
                        </a:rPr>
                        <a:t>Model</a:t>
                      </a:r>
                    </a:p>
                  </a:txBody>
                  <a:tcPr marL="163037" marR="163037" marT="163037" marB="163037" anchor="ctr">
                    <a:lnL w="12700" cmpd="sng">
                      <a:noFill/>
                    </a:lnL>
                    <a:lnR w="12700" cmpd="sng">
                      <a:noFill/>
                    </a:lnR>
                    <a:lnT w="12700" cmpd="sng">
                      <a:noFill/>
                    </a:lnT>
                    <a:lnB w="38100" cmpd="sng">
                      <a:noFill/>
                    </a:lnB>
                    <a:noFill/>
                  </a:tcPr>
                </a:tc>
                <a:tc>
                  <a:txBody>
                    <a:bodyPr/>
                    <a:lstStyle/>
                    <a:p>
                      <a:pPr rtl="0">
                        <a:buNone/>
                      </a:pPr>
                      <a:r>
                        <a:rPr lang="tr-TR" sz="1400" b="1" cap="all" spc="60">
                          <a:solidFill>
                            <a:schemeClr val="tx1"/>
                          </a:solidFill>
                          <a:effectLst/>
                          <a:latin typeface="Google Sans Text"/>
                        </a:rPr>
                        <a:t>Accuracy</a:t>
                      </a:r>
                    </a:p>
                  </a:txBody>
                  <a:tcPr marL="163037" marR="163037" marT="163037" marB="163037" anchor="ctr">
                    <a:lnL w="12700" cmpd="sng">
                      <a:noFill/>
                    </a:lnL>
                    <a:lnR w="12700" cmpd="sng">
                      <a:noFill/>
                    </a:lnR>
                    <a:lnT w="12700" cmpd="sng">
                      <a:noFill/>
                    </a:lnT>
                    <a:lnB w="38100" cmpd="sng">
                      <a:noFill/>
                    </a:lnB>
                    <a:noFill/>
                  </a:tcPr>
                </a:tc>
                <a:tc>
                  <a:txBody>
                    <a:bodyPr/>
                    <a:lstStyle/>
                    <a:p>
                      <a:pPr rtl="0">
                        <a:buNone/>
                      </a:pPr>
                      <a:r>
                        <a:rPr lang="tr-TR" sz="1400" b="1" cap="all" spc="60">
                          <a:solidFill>
                            <a:schemeClr val="tx1"/>
                          </a:solidFill>
                          <a:effectLst/>
                          <a:latin typeface="Google Sans Text"/>
                        </a:rPr>
                        <a:t>Precision</a:t>
                      </a:r>
                    </a:p>
                  </a:txBody>
                  <a:tcPr marL="163037" marR="163037" marT="163037" marB="163037" anchor="ctr">
                    <a:lnL w="12700" cmpd="sng">
                      <a:noFill/>
                    </a:lnL>
                    <a:lnR w="12700" cmpd="sng">
                      <a:noFill/>
                    </a:lnR>
                    <a:lnT w="12700" cmpd="sng">
                      <a:noFill/>
                    </a:lnT>
                    <a:lnB w="38100" cmpd="sng">
                      <a:noFill/>
                    </a:lnB>
                    <a:noFill/>
                  </a:tcPr>
                </a:tc>
                <a:tc>
                  <a:txBody>
                    <a:bodyPr/>
                    <a:lstStyle/>
                    <a:p>
                      <a:pPr rtl="0">
                        <a:buNone/>
                      </a:pPr>
                      <a:r>
                        <a:rPr lang="tr-TR" sz="1400" b="1" cap="all" spc="60">
                          <a:solidFill>
                            <a:schemeClr val="tx1"/>
                          </a:solidFill>
                          <a:effectLst/>
                          <a:latin typeface="Google Sans Text"/>
                        </a:rPr>
                        <a:t>Recall</a:t>
                      </a:r>
                    </a:p>
                  </a:txBody>
                  <a:tcPr marL="163037" marR="163037" marT="163037" marB="163037" anchor="ctr">
                    <a:lnL w="12700" cmpd="sng">
                      <a:noFill/>
                    </a:lnL>
                    <a:lnR w="12700" cmpd="sng">
                      <a:noFill/>
                    </a:lnR>
                    <a:lnT w="12700" cmpd="sng">
                      <a:noFill/>
                    </a:lnT>
                    <a:lnB w="38100" cmpd="sng">
                      <a:noFill/>
                    </a:lnB>
                    <a:noFill/>
                  </a:tcPr>
                </a:tc>
                <a:tc>
                  <a:txBody>
                    <a:bodyPr/>
                    <a:lstStyle/>
                    <a:p>
                      <a:pPr rtl="0">
                        <a:buNone/>
                      </a:pPr>
                      <a:r>
                        <a:rPr lang="tr-TR" sz="1400" b="1" cap="all" spc="60">
                          <a:solidFill>
                            <a:schemeClr val="tx1"/>
                          </a:solidFill>
                          <a:effectLst/>
                          <a:latin typeface="Google Sans Text"/>
                        </a:rPr>
                        <a:t>F1 Score</a:t>
                      </a:r>
                    </a:p>
                  </a:txBody>
                  <a:tcPr marL="163037" marR="163037" marT="163037" marB="163037" anchor="ctr">
                    <a:lnL w="12700" cmpd="sng">
                      <a:noFill/>
                    </a:lnL>
                    <a:lnR w="12700" cmpd="sng">
                      <a:noFill/>
                    </a:lnR>
                    <a:lnT w="12700" cmpd="sng">
                      <a:noFill/>
                    </a:lnT>
                    <a:lnB w="38100" cmpd="sng">
                      <a:noFill/>
                    </a:lnB>
                    <a:noFill/>
                  </a:tcPr>
                </a:tc>
                <a:tc>
                  <a:txBody>
                    <a:bodyPr/>
                    <a:lstStyle/>
                    <a:p>
                      <a:pPr rtl="0">
                        <a:buNone/>
                      </a:pPr>
                      <a:r>
                        <a:rPr lang="tr-TR" sz="1400" b="1" cap="all" spc="60">
                          <a:solidFill>
                            <a:schemeClr val="tx1"/>
                          </a:solidFill>
                          <a:effectLst/>
                          <a:latin typeface="Google Sans Text"/>
                        </a:rPr>
                        <a:t>ROC AUC</a:t>
                      </a:r>
                    </a:p>
                  </a:txBody>
                  <a:tcPr marL="163037" marR="163037" marT="163037" marB="163037" anchor="ctr">
                    <a:lnL w="12700" cmpd="sng">
                      <a:noFill/>
                    </a:lnL>
                    <a:lnR w="12700" cmpd="sng">
                      <a:noFill/>
                    </a:lnR>
                    <a:lnT w="12700" cmpd="sng">
                      <a:noFill/>
                    </a:lnT>
                    <a:lnB w="38100" cmpd="sng">
                      <a:noFill/>
                    </a:lnB>
                    <a:noFill/>
                  </a:tcPr>
                </a:tc>
                <a:extLst>
                  <a:ext uri="{0D108BD9-81ED-4DB2-BD59-A6C34878D82A}">
                    <a16:rowId xmlns:a16="http://schemas.microsoft.com/office/drawing/2014/main" val="140557555"/>
                  </a:ext>
                </a:extLst>
              </a:tr>
              <a:tr h="556111">
                <a:tc>
                  <a:txBody>
                    <a:bodyPr/>
                    <a:lstStyle/>
                    <a:p>
                      <a:pPr rtl="0">
                        <a:buNone/>
                      </a:pPr>
                      <a:r>
                        <a:rPr lang="tr-TR" sz="1900" b="1" cap="none" spc="0">
                          <a:solidFill>
                            <a:schemeClr val="bg1"/>
                          </a:solidFill>
                          <a:effectLst/>
                          <a:latin typeface="Google Sans Text"/>
                        </a:rPr>
                        <a:t>SVM</a:t>
                      </a:r>
                      <a:endParaRPr lang="tr-TR" sz="1900" cap="none" spc="0">
                        <a:solidFill>
                          <a:schemeClr val="bg1"/>
                        </a:solidFill>
                        <a:effectLst/>
                        <a:latin typeface="Google Sans Text"/>
                      </a:endParaRPr>
                    </a:p>
                  </a:txBody>
                  <a:tcPr marL="171149" marR="171149" marT="114099" marB="108692"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0.929</a:t>
                      </a:r>
                    </a:p>
                  </a:txBody>
                  <a:tcPr marL="171149" marR="171149" marT="114099" marB="108692"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0.300</a:t>
                      </a:r>
                    </a:p>
                  </a:txBody>
                  <a:tcPr marL="171149" marR="171149" marT="114099" marB="108692"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0.500</a:t>
                      </a:r>
                    </a:p>
                  </a:txBody>
                  <a:tcPr marL="171149" marR="171149" marT="114099" marB="108692"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0.375</a:t>
                      </a:r>
                    </a:p>
                  </a:txBody>
                  <a:tcPr marL="171149" marR="171149" marT="114099" marB="108692"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0.900</a:t>
                      </a:r>
                    </a:p>
                  </a:txBody>
                  <a:tcPr marL="171149" marR="171149" marT="114099" marB="108692"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extLst>
                  <a:ext uri="{0D108BD9-81ED-4DB2-BD59-A6C34878D82A}">
                    <a16:rowId xmlns:a16="http://schemas.microsoft.com/office/drawing/2014/main" val="3205812153"/>
                  </a:ext>
                </a:extLst>
              </a:tr>
              <a:tr h="556111">
                <a:tc>
                  <a:txBody>
                    <a:bodyPr/>
                    <a:lstStyle/>
                    <a:p>
                      <a:pPr rtl="0">
                        <a:buNone/>
                      </a:pPr>
                      <a:r>
                        <a:rPr lang="tr-TR" sz="1900" b="1" cap="none" spc="0">
                          <a:solidFill>
                            <a:schemeClr val="bg1"/>
                          </a:solidFill>
                          <a:effectLst/>
                          <a:latin typeface="Google Sans Text"/>
                        </a:rPr>
                        <a:t>KNN</a:t>
                      </a:r>
                      <a:endParaRPr lang="tr-TR" sz="1900" cap="none" spc="0">
                        <a:solidFill>
                          <a:schemeClr val="bg1"/>
                        </a:solidFill>
                        <a:effectLst/>
                        <a:latin typeface="Google Sans Text"/>
                      </a:endParaRP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0.922</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0.292</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0.583</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0.389</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0.796</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2761071150"/>
                  </a:ext>
                </a:extLst>
              </a:tr>
              <a:tr h="556111">
                <a:tc>
                  <a:txBody>
                    <a:bodyPr/>
                    <a:lstStyle/>
                    <a:p>
                      <a:pPr rtl="0">
                        <a:buNone/>
                      </a:pPr>
                      <a:r>
                        <a:rPr lang="tr-TR" sz="1900" b="1" cap="none" spc="0">
                          <a:solidFill>
                            <a:schemeClr val="bg1"/>
                          </a:solidFill>
                          <a:effectLst/>
                          <a:latin typeface="Google Sans Text"/>
                        </a:rPr>
                        <a:t>Decision Tree</a:t>
                      </a:r>
                      <a:endParaRPr lang="tr-TR" sz="1900" cap="none" spc="0">
                        <a:solidFill>
                          <a:schemeClr val="bg1"/>
                        </a:solidFill>
                        <a:effectLst/>
                        <a:latin typeface="Google Sans Text"/>
                      </a:endParaRP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0.911</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0.240</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0.500</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0.324</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0.715</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778717078"/>
                  </a:ext>
                </a:extLst>
              </a:tr>
              <a:tr h="845955">
                <a:tc>
                  <a:txBody>
                    <a:bodyPr/>
                    <a:lstStyle/>
                    <a:p>
                      <a:pPr rtl="0">
                        <a:buNone/>
                      </a:pPr>
                      <a:r>
                        <a:rPr lang="tr-TR" sz="1900" b="1" cap="none" spc="0">
                          <a:solidFill>
                            <a:schemeClr val="bg1"/>
                          </a:solidFill>
                          <a:effectLst/>
                          <a:latin typeface="Google Sans Text"/>
                        </a:rPr>
                        <a:t>MLP Neural Network</a:t>
                      </a:r>
                      <a:endParaRPr lang="tr-TR" sz="1900" cap="none" spc="0">
                        <a:solidFill>
                          <a:schemeClr val="bg1"/>
                        </a:solidFill>
                        <a:effectLst/>
                        <a:latin typeface="Google Sans Text"/>
                      </a:endParaRP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0.943</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0.375</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0.500</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0.429</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rtl="0">
                        <a:buNone/>
                      </a:pPr>
                      <a:r>
                        <a:rPr lang="tr-TR" sz="1900" cap="none" spc="0">
                          <a:solidFill>
                            <a:schemeClr val="bg1"/>
                          </a:solidFill>
                          <a:effectLst/>
                          <a:latin typeface="Google Sans Text"/>
                        </a:rPr>
                        <a:t>0.907</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1788557566"/>
                  </a:ext>
                </a:extLst>
              </a:tr>
              <a:tr h="556111">
                <a:tc>
                  <a:txBody>
                    <a:bodyPr/>
                    <a:lstStyle/>
                    <a:p>
                      <a:pPr rtl="0">
                        <a:buNone/>
                      </a:pPr>
                      <a:r>
                        <a:rPr lang="tr-TR" sz="1900" b="1" cap="none" spc="0">
                          <a:solidFill>
                            <a:schemeClr val="bg1"/>
                          </a:solidFill>
                          <a:effectLst/>
                          <a:latin typeface="Google Sans Text"/>
                        </a:rPr>
                        <a:t>Random Forest</a:t>
                      </a:r>
                      <a:endParaRPr lang="tr-TR" sz="1900" cap="none" spc="0">
                        <a:solidFill>
                          <a:schemeClr val="bg1"/>
                        </a:solidFill>
                        <a:effectLst/>
                        <a:latin typeface="Google Sans Text"/>
                      </a:endParaRP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0.940</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0.333</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0.417</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0.370</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rtl="0">
                        <a:buNone/>
                      </a:pPr>
                      <a:r>
                        <a:rPr lang="tr-TR" sz="1900" cap="none" spc="0">
                          <a:solidFill>
                            <a:schemeClr val="bg1"/>
                          </a:solidFill>
                          <a:effectLst/>
                          <a:latin typeface="Google Sans Text"/>
                        </a:rPr>
                        <a:t>0.909</a:t>
                      </a:r>
                    </a:p>
                  </a:txBody>
                  <a:tcPr marL="171149" marR="171149" marT="114099" marB="10869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4183681612"/>
                  </a:ext>
                </a:extLst>
              </a:tr>
            </a:tbl>
          </a:graphicData>
        </a:graphic>
      </p:graphicFrame>
    </p:spTree>
    <p:extLst>
      <p:ext uri="{BB962C8B-B14F-4D97-AF65-F5344CB8AC3E}">
        <p14:creationId xmlns:p14="http://schemas.microsoft.com/office/powerpoint/2010/main" val="2817654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FA416D2-814A-0CA1-84E2-B65F1CD56E6A}"/>
              </a:ext>
            </a:extLst>
          </p:cNvPr>
          <p:cNvSpPr>
            <a:spLocks noGrp="1"/>
          </p:cNvSpPr>
          <p:nvPr>
            <p:ph type="title"/>
          </p:nvPr>
        </p:nvSpPr>
        <p:spPr>
          <a:xfrm>
            <a:off x="1371599" y="5510253"/>
            <a:ext cx="9895951" cy="1033669"/>
          </a:xfrm>
        </p:spPr>
        <p:txBody>
          <a:bodyPr>
            <a:normAutofit/>
          </a:bodyPr>
          <a:lstStyle/>
          <a:p>
            <a:r>
              <a:rPr lang="tr-TR" sz="4000">
                <a:solidFill>
                  <a:srgbClr val="FFFFFF"/>
                </a:solidFill>
              </a:rPr>
              <a:t>Modellerin karşılaştırılmaları</a:t>
            </a:r>
            <a:endParaRPr lang="tr-TR" sz="4000">
              <a:solidFill>
                <a:srgbClr val="000000"/>
              </a:solidFill>
            </a:endParaRPr>
          </a:p>
          <a:p>
            <a:endParaRPr lang="tr-TR" sz="4000">
              <a:solidFill>
                <a:srgbClr val="FFFFFF"/>
              </a:solidFill>
            </a:endParaRPr>
          </a:p>
        </p:txBody>
      </p:sp>
      <p:pic>
        <p:nvPicPr>
          <p:cNvPr id="4" name="İçerik Yer Tutucusu 3" descr="metin, ekran görüntüsü, renklilik, diyagram içeren bir resim&#10;&#10;Yapay zeka tarafından oluşturulmuş içerik yanlış olabilir.">
            <a:extLst>
              <a:ext uri="{FF2B5EF4-FFF2-40B4-BE49-F238E27FC236}">
                <a16:creationId xmlns:a16="http://schemas.microsoft.com/office/drawing/2014/main" id="{6791D1AD-052D-3278-4747-DEEDD8900B73}"/>
              </a:ext>
            </a:extLst>
          </p:cNvPr>
          <p:cNvPicPr>
            <a:picLocks noChangeAspect="1"/>
          </p:cNvPicPr>
          <p:nvPr/>
        </p:nvPicPr>
        <p:blipFill>
          <a:blip r:embed="rId2"/>
          <a:stretch>
            <a:fillRect/>
          </a:stretch>
        </p:blipFill>
        <p:spPr>
          <a:xfrm>
            <a:off x="1387206" y="260330"/>
            <a:ext cx="9417586" cy="4708793"/>
          </a:xfrm>
          <a:prstGeom prst="rect">
            <a:avLst/>
          </a:prstGeom>
        </p:spPr>
      </p:pic>
      <p:sp>
        <p:nvSpPr>
          <p:cNvPr id="8" name="Content Placeholder 7">
            <a:extLst>
              <a:ext uri="{FF2B5EF4-FFF2-40B4-BE49-F238E27FC236}">
                <a16:creationId xmlns:a16="http://schemas.microsoft.com/office/drawing/2014/main" id="{CB9EB770-F127-97FF-5F6D-4BB24E537D72}"/>
              </a:ext>
            </a:extLst>
          </p:cNvPr>
          <p:cNvSpPr>
            <a:spLocks noGrp="1"/>
          </p:cNvSpPr>
          <p:nvPr>
            <p:ph idx="1"/>
          </p:nvPr>
        </p:nvSpPr>
        <p:spPr>
          <a:xfrm>
            <a:off x="1940256" y="3833199"/>
            <a:ext cx="8332826" cy="1119982"/>
          </a:xfrm>
        </p:spPr>
        <p:txBody>
          <a:bodyPr anchor="ctr">
            <a:normAutofit/>
          </a:bodyPr>
          <a:lstStyle/>
          <a:p>
            <a:pPr marL="0" indent="0">
              <a:buNone/>
            </a:pPr>
            <a:endParaRPr lang="en-US" sz="2000"/>
          </a:p>
        </p:txBody>
      </p:sp>
    </p:spTree>
    <p:extLst>
      <p:ext uri="{BB962C8B-B14F-4D97-AF65-F5344CB8AC3E}">
        <p14:creationId xmlns:p14="http://schemas.microsoft.com/office/powerpoint/2010/main" val="3949278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çerik Yer Tutucusu 3" descr="metin, çizgi, diyagram, paralel içeren bir resim&#10;&#10;Yapay zeka tarafından oluşturulmuş içerik yanlış olabilir.">
            <a:extLst>
              <a:ext uri="{FF2B5EF4-FFF2-40B4-BE49-F238E27FC236}">
                <a16:creationId xmlns:a16="http://schemas.microsoft.com/office/drawing/2014/main" id="{DE8B6590-3BD9-BCDE-C8DA-3F9B98A9BCB3}"/>
              </a:ext>
            </a:extLst>
          </p:cNvPr>
          <p:cNvPicPr>
            <a:picLocks noChangeAspect="1"/>
          </p:cNvPicPr>
          <p:nvPr/>
        </p:nvPicPr>
        <p:blipFill>
          <a:blip r:embed="rId2"/>
          <a:stretch>
            <a:fillRect/>
          </a:stretch>
        </p:blipFill>
        <p:spPr>
          <a:xfrm>
            <a:off x="643467" y="1311113"/>
            <a:ext cx="5294716" cy="4235771"/>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İçerik Yer Tutucusu 6" descr="metin, ekran görüntüsü, yazı tipi, sayı, numara içeren bir resim&#10;&#10;Yapay zeka tarafından oluşturulmuş içerik yanlış olabilir.">
            <a:extLst>
              <a:ext uri="{FF2B5EF4-FFF2-40B4-BE49-F238E27FC236}">
                <a16:creationId xmlns:a16="http://schemas.microsoft.com/office/drawing/2014/main" id="{C64F2F24-874D-FA2E-43F5-0E468CB8B09C}"/>
              </a:ext>
            </a:extLst>
          </p:cNvPr>
          <p:cNvPicPr>
            <a:picLocks noGrp="1" noChangeAspect="1"/>
          </p:cNvPicPr>
          <p:nvPr>
            <p:ph idx="1"/>
          </p:nvPr>
        </p:nvPicPr>
        <p:blipFill>
          <a:blip r:embed="rId3"/>
          <a:stretch>
            <a:fillRect/>
          </a:stretch>
        </p:blipFill>
        <p:spPr>
          <a:xfrm>
            <a:off x="6253817" y="1225075"/>
            <a:ext cx="5294715" cy="4407850"/>
          </a:xfrm>
          <a:prstGeom prst="rect">
            <a:avLst/>
          </a:prstGeom>
        </p:spPr>
      </p:pic>
    </p:spTree>
    <p:extLst>
      <p:ext uri="{BB962C8B-B14F-4D97-AF65-F5344CB8AC3E}">
        <p14:creationId xmlns:p14="http://schemas.microsoft.com/office/powerpoint/2010/main" val="1210072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5" name="Resim 4" descr="metin, ekran görüntüsü, yazı tipi, sayı, numara içeren bir resim&#10;&#10;Yapay zeka tarafından oluşturulmuş içerik yanlış olabilir.">
            <a:extLst>
              <a:ext uri="{FF2B5EF4-FFF2-40B4-BE49-F238E27FC236}">
                <a16:creationId xmlns:a16="http://schemas.microsoft.com/office/drawing/2014/main" id="{87CEE80E-D9B4-BAF0-6ADB-B2ABBC128D88}"/>
              </a:ext>
            </a:extLst>
          </p:cNvPr>
          <p:cNvPicPr>
            <a:picLocks noChangeAspect="1"/>
          </p:cNvPicPr>
          <p:nvPr/>
        </p:nvPicPr>
        <p:blipFill>
          <a:blip r:embed="rId2"/>
          <a:stretch>
            <a:fillRect/>
          </a:stretch>
        </p:blipFill>
        <p:spPr>
          <a:xfrm>
            <a:off x="706239" y="643466"/>
            <a:ext cx="3152748" cy="2624663"/>
          </a:xfrm>
          <a:prstGeom prst="rect">
            <a:avLst/>
          </a:prstGeom>
        </p:spPr>
      </p:pic>
      <p:pic>
        <p:nvPicPr>
          <p:cNvPr id="7" name="Resim 6" descr="metin, ekran görüntüsü, yazı tipi, sayı, numara içeren bir resim&#10;&#10;Yapay zeka tarafından oluşturulmuş içerik yanlış olabilir.">
            <a:extLst>
              <a:ext uri="{FF2B5EF4-FFF2-40B4-BE49-F238E27FC236}">
                <a16:creationId xmlns:a16="http://schemas.microsoft.com/office/drawing/2014/main" id="{5D88A1B6-B911-E8D2-D882-2917B3CFDABF}"/>
              </a:ext>
            </a:extLst>
          </p:cNvPr>
          <p:cNvPicPr>
            <a:picLocks noChangeAspect="1"/>
          </p:cNvPicPr>
          <p:nvPr/>
        </p:nvPicPr>
        <p:blipFill>
          <a:blip r:embed="rId3"/>
          <a:stretch>
            <a:fillRect/>
          </a:stretch>
        </p:blipFill>
        <p:spPr>
          <a:xfrm>
            <a:off x="4243493" y="1870749"/>
            <a:ext cx="3743538" cy="3116495"/>
          </a:xfrm>
          <a:prstGeom prst="rect">
            <a:avLst/>
          </a:prstGeom>
        </p:spPr>
      </p:pic>
      <p:pic>
        <p:nvPicPr>
          <p:cNvPr id="6" name="Resim 5" descr="metin, ekran görüntüsü, yazı tipi, diyagram içeren bir resim&#10;&#10;Yapay zeka tarafından oluşturulmuş içerik yanlış olabilir.">
            <a:extLst>
              <a:ext uri="{FF2B5EF4-FFF2-40B4-BE49-F238E27FC236}">
                <a16:creationId xmlns:a16="http://schemas.microsoft.com/office/drawing/2014/main" id="{710847B6-E418-F205-9958-4B3853265A12}"/>
              </a:ext>
            </a:extLst>
          </p:cNvPr>
          <p:cNvPicPr>
            <a:picLocks noChangeAspect="1"/>
          </p:cNvPicPr>
          <p:nvPr/>
        </p:nvPicPr>
        <p:blipFill>
          <a:blip r:embed="rId4"/>
          <a:stretch>
            <a:fillRect/>
          </a:stretch>
        </p:blipFill>
        <p:spPr>
          <a:xfrm>
            <a:off x="8352275" y="643466"/>
            <a:ext cx="3152747" cy="2624662"/>
          </a:xfrm>
          <a:prstGeom prst="rect">
            <a:avLst/>
          </a:prstGeom>
        </p:spPr>
      </p:pic>
      <p:pic>
        <p:nvPicPr>
          <p:cNvPr id="8" name="Resim 7" descr="metin, ekran görüntüsü, yazı tipi, sayı, numara içeren bir resim&#10;&#10;Yapay zeka tarafından oluşturulmuş içerik yanlış olabilir.">
            <a:extLst>
              <a:ext uri="{FF2B5EF4-FFF2-40B4-BE49-F238E27FC236}">
                <a16:creationId xmlns:a16="http://schemas.microsoft.com/office/drawing/2014/main" id="{01C5DC60-3F29-5890-A50F-AC3B3F86F968}"/>
              </a:ext>
            </a:extLst>
          </p:cNvPr>
          <p:cNvPicPr>
            <a:picLocks noChangeAspect="1"/>
          </p:cNvPicPr>
          <p:nvPr/>
        </p:nvPicPr>
        <p:blipFill>
          <a:blip r:embed="rId5"/>
          <a:stretch>
            <a:fillRect/>
          </a:stretch>
        </p:blipFill>
        <p:spPr>
          <a:xfrm>
            <a:off x="706238" y="3589863"/>
            <a:ext cx="3152750" cy="2624665"/>
          </a:xfrm>
          <a:prstGeom prst="rect">
            <a:avLst/>
          </a:prstGeom>
        </p:spPr>
      </p:pic>
      <p:pic>
        <p:nvPicPr>
          <p:cNvPr id="4" name="Resim 3" descr="metin, ekran görüntüsü, yazı tipi, sayı, numara içeren bir resim&#10;&#10;Yapay zeka tarafından oluşturulmuş içerik yanlış olabilir.">
            <a:extLst>
              <a:ext uri="{FF2B5EF4-FFF2-40B4-BE49-F238E27FC236}">
                <a16:creationId xmlns:a16="http://schemas.microsoft.com/office/drawing/2014/main" id="{0CFA7436-9E2B-9D1F-CFB9-3EBAA9EBD68C}"/>
              </a:ext>
            </a:extLst>
          </p:cNvPr>
          <p:cNvPicPr>
            <a:picLocks noChangeAspect="1"/>
          </p:cNvPicPr>
          <p:nvPr/>
        </p:nvPicPr>
        <p:blipFill>
          <a:blip r:embed="rId6"/>
          <a:stretch>
            <a:fillRect/>
          </a:stretch>
        </p:blipFill>
        <p:spPr>
          <a:xfrm>
            <a:off x="8340664" y="3589863"/>
            <a:ext cx="3175966" cy="2643992"/>
          </a:xfrm>
          <a:prstGeom prst="rect">
            <a:avLst/>
          </a:prstGeom>
        </p:spPr>
      </p:pic>
    </p:spTree>
    <p:extLst>
      <p:ext uri="{BB962C8B-B14F-4D97-AF65-F5344CB8AC3E}">
        <p14:creationId xmlns:p14="http://schemas.microsoft.com/office/powerpoint/2010/main" val="4046670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E214AA7-F028-4A0D-8698-61AEC754D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59834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70174177-78B7-30C8-FD2A-B1CA7DFEF462}"/>
              </a:ext>
            </a:extLst>
          </p:cNvPr>
          <p:cNvSpPr>
            <a:spLocks noGrp="1"/>
          </p:cNvSpPr>
          <p:nvPr>
            <p:ph type="title"/>
          </p:nvPr>
        </p:nvSpPr>
        <p:spPr>
          <a:xfrm>
            <a:off x="1159933" y="995318"/>
            <a:ext cx="9872134" cy="1193968"/>
          </a:xfrm>
          <a:solidFill>
            <a:srgbClr val="FFFFFF"/>
          </a:solidFill>
          <a:ln w="38100">
            <a:solidFill>
              <a:srgbClr val="7F7F7F"/>
            </a:solidFill>
            <a:miter lim="800000"/>
          </a:ln>
        </p:spPr>
        <p:txBody>
          <a:bodyPr vert="horz" lIns="91440" tIns="45720" rIns="91440" bIns="45720" rtlCol="0" anchor="ctr">
            <a:normAutofit/>
          </a:bodyPr>
          <a:lstStyle/>
          <a:p>
            <a:pPr algn="ctr"/>
            <a:r>
              <a:rPr lang="en-US" sz="3600" kern="1200">
                <a:solidFill>
                  <a:srgbClr val="3F3F3F"/>
                </a:solidFill>
                <a:latin typeface="+mj-lt"/>
                <a:ea typeface="+mj-ea"/>
                <a:cs typeface="+mj-cs"/>
              </a:rPr>
              <a:t>Random </a:t>
            </a:r>
            <a:r>
              <a:rPr lang="en-US" sz="3600" kern="1200" err="1">
                <a:solidFill>
                  <a:srgbClr val="3F3F3F"/>
                </a:solidFill>
                <a:latin typeface="+mj-lt"/>
                <a:ea typeface="+mj-ea"/>
                <a:cs typeface="+mj-cs"/>
              </a:rPr>
              <a:t>forestla</a:t>
            </a:r>
            <a:r>
              <a:rPr lang="en-US" sz="3600" kern="1200">
                <a:solidFill>
                  <a:srgbClr val="3F3F3F"/>
                </a:solidFill>
                <a:latin typeface="+mj-lt"/>
                <a:ea typeface="+mj-ea"/>
                <a:cs typeface="+mj-cs"/>
              </a:rPr>
              <a:t> </a:t>
            </a:r>
            <a:r>
              <a:rPr lang="en-US" sz="3600" kern="1200" err="1">
                <a:solidFill>
                  <a:srgbClr val="3F3F3F"/>
                </a:solidFill>
                <a:latin typeface="+mj-lt"/>
                <a:ea typeface="+mj-ea"/>
                <a:cs typeface="+mj-cs"/>
              </a:rPr>
              <a:t>seçilen</a:t>
            </a:r>
            <a:r>
              <a:rPr lang="en-US" sz="3600" kern="1200">
                <a:solidFill>
                  <a:srgbClr val="3F3F3F"/>
                </a:solidFill>
                <a:latin typeface="+mj-lt"/>
                <a:ea typeface="+mj-ea"/>
                <a:cs typeface="+mj-cs"/>
              </a:rPr>
              <a:t> </a:t>
            </a:r>
            <a:r>
              <a:rPr lang="en-US" sz="3600" kern="1200" err="1">
                <a:solidFill>
                  <a:srgbClr val="3F3F3F"/>
                </a:solidFill>
                <a:latin typeface="+mj-lt"/>
                <a:ea typeface="+mj-ea"/>
                <a:cs typeface="+mj-cs"/>
              </a:rPr>
              <a:t>en</a:t>
            </a:r>
            <a:r>
              <a:rPr lang="en-US" sz="3600" kern="1200">
                <a:solidFill>
                  <a:srgbClr val="3F3F3F"/>
                </a:solidFill>
                <a:latin typeface="+mj-lt"/>
                <a:ea typeface="+mj-ea"/>
                <a:cs typeface="+mj-cs"/>
              </a:rPr>
              <a:t> </a:t>
            </a:r>
            <a:r>
              <a:rPr lang="en-US" sz="3600" kern="1200" err="1">
                <a:solidFill>
                  <a:srgbClr val="3F3F3F"/>
                </a:solidFill>
                <a:latin typeface="+mj-lt"/>
                <a:ea typeface="+mj-ea"/>
                <a:cs typeface="+mj-cs"/>
              </a:rPr>
              <a:t>etkili</a:t>
            </a:r>
            <a:r>
              <a:rPr lang="en-US" sz="3600" kern="1200">
                <a:solidFill>
                  <a:srgbClr val="3F3F3F"/>
                </a:solidFill>
                <a:latin typeface="+mj-lt"/>
                <a:ea typeface="+mj-ea"/>
                <a:cs typeface="+mj-cs"/>
              </a:rPr>
              <a:t> 10 </a:t>
            </a:r>
            <a:r>
              <a:rPr lang="en-US" sz="3600" err="1">
                <a:solidFill>
                  <a:srgbClr val="3F3F3F"/>
                </a:solidFill>
              </a:rPr>
              <a:t>özellik</a:t>
            </a:r>
            <a:r>
              <a:rPr lang="en-US" sz="3600">
                <a:solidFill>
                  <a:srgbClr val="3F3F3F"/>
                </a:solidFill>
              </a:rPr>
              <a:t> </a:t>
            </a:r>
            <a:r>
              <a:rPr lang="en-US" sz="3600" err="1">
                <a:solidFill>
                  <a:srgbClr val="3F3F3F"/>
                </a:solidFill>
              </a:rPr>
              <a:t>ve</a:t>
            </a:r>
            <a:r>
              <a:rPr lang="en-US" sz="3600">
                <a:solidFill>
                  <a:srgbClr val="3F3F3F"/>
                </a:solidFill>
              </a:rPr>
              <a:t> </a:t>
            </a:r>
            <a:r>
              <a:rPr lang="en-US" sz="3600" err="1">
                <a:solidFill>
                  <a:srgbClr val="3F3F3F"/>
                </a:solidFill>
              </a:rPr>
              <a:t>Normallik</a:t>
            </a:r>
            <a:r>
              <a:rPr lang="en-US" sz="3600">
                <a:solidFill>
                  <a:srgbClr val="3F3F3F"/>
                </a:solidFill>
              </a:rPr>
              <a:t> </a:t>
            </a:r>
            <a:r>
              <a:rPr lang="en-US" sz="3600" err="1">
                <a:solidFill>
                  <a:srgbClr val="3F3F3F"/>
                </a:solidFill>
              </a:rPr>
              <a:t>testi</a:t>
            </a:r>
            <a:endParaRPr lang="en-US" sz="3600" kern="1200" err="1"/>
          </a:p>
        </p:txBody>
      </p:sp>
      <p:sp>
        <p:nvSpPr>
          <p:cNvPr id="3" name="İçerik Yer Tutucusu 2">
            <a:extLst>
              <a:ext uri="{FF2B5EF4-FFF2-40B4-BE49-F238E27FC236}">
                <a16:creationId xmlns:a16="http://schemas.microsoft.com/office/drawing/2014/main" id="{1255B0A5-5D0E-3D75-D764-79C8402562C6}"/>
              </a:ext>
            </a:extLst>
          </p:cNvPr>
          <p:cNvSpPr>
            <a:spLocks noGrp="1"/>
          </p:cNvSpPr>
          <p:nvPr>
            <p:ph idx="1"/>
          </p:nvPr>
        </p:nvSpPr>
        <p:spPr>
          <a:xfrm>
            <a:off x="1476915" y="2888250"/>
            <a:ext cx="4297351" cy="2959777"/>
          </a:xfrm>
        </p:spPr>
        <p:txBody>
          <a:bodyPr vert="horz" lIns="91440" tIns="45720" rIns="91440" bIns="45720" rtlCol="0" anchor="t">
            <a:normAutofit/>
          </a:bodyPr>
          <a:lstStyle/>
          <a:p>
            <a:r>
              <a:rPr lang="en-US" sz="2000"/>
              <a:t>['f_47', 'f_1', 'f_2', 'f_3', 'f_25', 'f_46', 'f_6', 'f_48', 'f_35', 'f_32']</a:t>
            </a:r>
          </a:p>
        </p:txBody>
      </p:sp>
      <p:cxnSp>
        <p:nvCxnSpPr>
          <p:cNvPr id="23" name="Straight Connector 22">
            <a:extLst>
              <a:ext uri="{FF2B5EF4-FFF2-40B4-BE49-F238E27FC236}">
                <a16:creationId xmlns:a16="http://schemas.microsoft.com/office/drawing/2014/main" id="{D6206FDC-2777-4D7F-AF9C-73413DA664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2888250"/>
            <a:ext cx="0" cy="2769135"/>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sp>
        <p:nvSpPr>
          <p:cNvPr id="4" name="Metin kutusu 3">
            <a:extLst>
              <a:ext uri="{FF2B5EF4-FFF2-40B4-BE49-F238E27FC236}">
                <a16:creationId xmlns:a16="http://schemas.microsoft.com/office/drawing/2014/main" id="{0EDA5719-FA08-81A3-D7A0-B59B019C7832}"/>
              </a:ext>
            </a:extLst>
          </p:cNvPr>
          <p:cNvSpPr txBox="1"/>
          <p:nvPr/>
        </p:nvSpPr>
        <p:spPr>
          <a:xfrm>
            <a:off x="6417731" y="2888250"/>
            <a:ext cx="4292594" cy="295977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28600" lvl="0" indent="-228600">
              <a:lnSpc>
                <a:spcPct val="90000"/>
              </a:lnSpc>
              <a:spcAft>
                <a:spcPts val="600"/>
              </a:spcAft>
              <a:buFont typeface="Arial" panose="020B0604020202020204" pitchFamily="34" charset="0"/>
              <a:buChar char="•"/>
            </a:pPr>
            <a:r>
              <a:rPr lang="en-US" sz="2000" b="0" i="0" u="none" strike="noStrike" baseline="0"/>
              <a:t>Shapiro-Wilk Normallik Testi yaptık p 0.05 ten küçük çıktı yani verilerimizin dağılımı düzensizdir.</a:t>
            </a:r>
            <a:r>
              <a:rPr lang="en-US" sz="2000" b="0" i="0"/>
              <a:t>​</a:t>
            </a: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340015727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Geniş ekran</PresentationFormat>
  <Slides>23</Slides>
  <Notes>0</Notes>
  <HiddenSlides>0</HiddenSlides>
  <ScaleCrop>false</ScaleCrop>
  <HeadingPairs>
    <vt:vector size="4" baseType="variant">
      <vt:variant>
        <vt:lpstr>Tema</vt:lpstr>
      </vt:variant>
      <vt:variant>
        <vt:i4>1</vt:i4>
      </vt:variant>
      <vt:variant>
        <vt:lpstr>Slayt Başlıkları</vt:lpstr>
      </vt:variant>
      <vt:variant>
        <vt:i4>23</vt:i4>
      </vt:variant>
    </vt:vector>
  </HeadingPairs>
  <TitlesOfParts>
    <vt:vector size="24" baseType="lpstr">
      <vt:lpstr>Ofis Teması</vt:lpstr>
      <vt:lpstr>MAKİNE ÖĞRENİMİ PROJESİ</vt:lpstr>
      <vt:lpstr>Proje bilgilendirmesi</vt:lpstr>
      <vt:lpstr>Veri Yapısı ve Problem Tanımı</vt:lpstr>
      <vt:lpstr>Verilerimiz</vt:lpstr>
      <vt:lpstr>Veri bilgileri</vt:lpstr>
      <vt:lpstr>Model Performans Sonuçları</vt:lpstr>
      <vt:lpstr>Modellerin karşılaştırılmaları</vt:lpstr>
      <vt:lpstr>PowerPoint Sunusu</vt:lpstr>
      <vt:lpstr>PowerPoint Sunusu</vt:lpstr>
      <vt:lpstr>Random forestla en etkili 10 özellik seçilmiştir</vt:lpstr>
      <vt:lpstr>Modellerin karşılaştırılmaları </vt:lpstr>
      <vt:lpstr>PowerPoint Sunusu</vt:lpstr>
      <vt:lpstr>PowerPoint Sunusu</vt:lpstr>
      <vt:lpstr>Smote bilgileri</vt:lpstr>
      <vt:lpstr>Smote ile veriler arttırılmıştır</vt:lpstr>
      <vt:lpstr>Modellerin karşılaştırılmaları </vt:lpstr>
      <vt:lpstr>PowerPoint Sunusu</vt:lpstr>
      <vt:lpstr>PowerPoint Sunusu</vt:lpstr>
      <vt:lpstr>Smote ile veriler arttırılmış ve random forest uygulanmış</vt:lpstr>
      <vt:lpstr>Modellerin karşılaştırılmaları </vt:lpstr>
      <vt:lpstr>PowerPoint Sunusu</vt:lpstr>
      <vt:lpstr>PowerPoint Sunusu</vt:lpstr>
      <vt:lpstr>Random forestla seçilen en etkili 10 özellik ve Normallik testi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20</cp:revision>
  <dcterms:created xsi:type="dcterms:W3CDTF">2025-12-14T17:57:21Z</dcterms:created>
  <dcterms:modified xsi:type="dcterms:W3CDTF">2025-12-16T10:21:26Z</dcterms:modified>
</cp:coreProperties>
</file>